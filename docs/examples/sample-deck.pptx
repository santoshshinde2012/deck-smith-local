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Monthly churn</c:v>
                </c:pt>
              </c:strCache>
            </c:strRef>
          </c:tx>
          <c:spPr>
            <a:ln w="28575">
              <a:solidFill>
                <a:srgbClr val="1A3144"/>
              </a:solidFill>
            </a:ln>
          </c:spPr>
          <c:marker>
            <c:symbol val="circle"/>
            <c:size val="8"/>
            <c:spPr>
              <a:solidFill>
                <a:srgbClr val="1A3144"/>
              </a:solidFill>
              <a:ln>
                <a:noFill/>
              </a:ln>
            </c:spPr>
          </c:marker>
          <c:dPt>
            <c:idx val="0"/>
            <c:marker>
              <c:spPr>
                <a:solidFill>
                  <a:srgbClr val="1A3144"/>
                </a:solidFill>
                <a:ln>
                  <a:noFill/>
                </a:ln>
              </c:spPr>
            </c:marker>
          </c:dPt>
          <c:dPt>
            <c:idx val="1"/>
            <c:marker>
              <c:spPr>
                <a:solidFill>
                  <a:srgbClr val="1A3144"/>
                </a:solidFill>
                <a:ln>
                  <a:noFill/>
                </a:ln>
              </c:spPr>
            </c:marker>
          </c:dPt>
          <c:dPt>
            <c:idx val="2"/>
            <c:marker>
              <c:spPr>
                <a:solidFill>
                  <a:srgbClr val="9C4221"/>
                </a:solidFill>
                <a:ln>
                  <a:noFill/>
                </a:ln>
              </c:spPr>
            </c:marker>
          </c:dPt>
          <c:dLbls>
            <c:dLbl>
              <c:idx val="0"/>
              <c:spPr/>
              <c:txPr>
                <a:bodyPr/>
                <a:lstStyle/>
                <a:p>
                  <a:pPr>
                    <a:defRPr sz="1100" b="0">
                      <a:solidFill>
                        <a:srgbClr val="1C1915"/>
                      </a:solidFill>
                      <a:latin typeface="Calibri"/>
                    </a:defRPr>
                  </a:pPr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pPr/>
              <c:txPr>
                <a:bodyPr/>
                <a:lstStyle/>
                <a:p>
                  <a:pPr>
                    <a:defRPr sz="1100" b="0">
                      <a:solidFill>
                        <a:srgbClr val="1C1915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pPr/>
              <c:txPr>
                <a:bodyPr/>
                <a:lstStyle/>
                <a:p>
                  <a:pPr>
                    <a:defRPr sz="1200" b="1">
                      <a:solidFill>
                        <a:srgbClr val="9C4221"/>
                      </a:solidFill>
                      <a:latin typeface="Calibri"/>
                    </a:defRPr>
                  </a:pPr>
                </a:p>
              </c:txPr>
              <c:dLblPos val="l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Jul</c:v>
                </c:pt>
                <c:pt idx="1">
                  <c:v>Aug</c:v>
                </c:pt>
                <c:pt idx="2">
                  <c:v>Sep</c:v>
                </c:pt>
              </c:strCache>
            </c:strRef>
          </c:cat>
          <c:val>
            <c:numRef>
              <c:f>Sheet1!$B$2:$B$4</c:f>
              <c:numCache>
                <c:formatCode>0.0%</c:formatCode>
                <c:ptCount val="3"/>
                <c:pt idx="0">
                  <c:v>0.024465327284510695</c:v>
                </c:pt>
                <c:pt idx="1">
                  <c:v>0.023969319271332695</c:v>
                </c:pt>
                <c:pt idx="2">
                  <c:v>0.022352568167406467</c:v>
                </c:pt>
              </c:numCache>
            </c:numRef>
          </c:val>
          <c:smooth val="0"/>
        </c:ser>
        <c:dLbls>
          <c:numFmt formatCode="0.0%" sourceLinked="0"/>
          <c:txPr>
            <a:bodyPr/>
            <a:lstStyle/>
            <a:p>
              <a:pPr>
                <a:defRPr sz="1100">
                  <a:solidFill>
                    <a:srgbClr val="1C1915"/>
                  </a:solidFill>
                  <a:latin typeface="Calibr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3DCD0"/>
            </a:solidFill>
          </a:ln>
        </c:spPr>
        <c:txPr>
          <a:bodyPr/>
          <a:lstStyle/>
          <a:p>
            <a:pPr>
              <a:defRPr sz="1200">
                <a:solidFill>
                  <a:srgbClr val="1C1915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0.025838620710628445"/>
          <c:min val="0.02055672291786787"/>
        </c:scaling>
        <c:delete/>
        <c:axPos val="l"/>
        <c:majorTickMark val="none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Weighted monthly churn by segment</c:v>
                </c:pt>
              </c:strCache>
            </c:strRef>
          </c:tx>
          <c:spPr>
            <a:solidFill>
              <a:srgbClr val="1A3144"/>
            </a:solidFill>
            <a:ln>
              <a:noFill/>
            </a:ln>
          </c:spPr>
          <c:dPt>
            <c:idx val="0"/>
            <c:spPr>
              <a:solidFill>
                <a:srgbClr val="1A3144"/>
              </a:solidFill>
              <a:ln>
                <a:noFill/>
              </a:ln>
            </c:spPr>
          </c:dPt>
          <c:dPt>
            <c:idx val="1"/>
            <c:spPr>
              <a:solidFill>
                <a:srgbClr val="1A3144"/>
              </a:solidFill>
              <a:ln>
                <a:noFill/>
              </a:ln>
            </c:spPr>
          </c:dPt>
          <c:dPt>
            <c:idx val="2"/>
            <c:spPr>
              <a:solidFill>
                <a:srgbClr val="9C4221"/>
              </a:solidFill>
              <a:ln>
                <a:noFill/>
              </a:ln>
            </c:spPr>
          </c:dPt>
          <c:dLbls>
            <c:dLbl>
              <c:idx val="0"/>
              <c:spPr/>
              <c:txPr>
                <a:bodyPr/>
                <a:lstStyle/>
                <a:p>
                  <a:pPr>
                    <a:defRPr sz="1100" b="0">
                      <a:solidFill>
                        <a:srgbClr val="1C1915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pPr/>
              <c:txPr>
                <a:bodyPr/>
                <a:lstStyle/>
                <a:p>
                  <a:pPr>
                    <a:defRPr sz="1100" b="0">
                      <a:solidFill>
                        <a:srgbClr val="1C1915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pPr/>
              <c:txPr>
                <a:bodyPr/>
                <a:lstStyle/>
                <a:p>
                  <a:pPr>
                    <a:defRPr sz="1200" b="1">
                      <a:solidFill>
                        <a:srgbClr val="9C4221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Enterprise</c:v>
                </c:pt>
                <c:pt idx="1">
                  <c:v>Mid-market</c:v>
                </c:pt>
                <c:pt idx="2">
                  <c:v>SMB</c:v>
                </c:pt>
              </c:strCache>
            </c:strRef>
          </c:cat>
          <c:val>
            <c:numRef>
              <c:f>Sheet1!$B$2:$B$4</c:f>
              <c:numCache>
                <c:formatCode>0.0%</c:formatCode>
                <c:ptCount val="3"/>
                <c:pt idx="0">
                  <c:v>0.005371530886302597</c:v>
                </c:pt>
                <c:pt idx="1">
                  <c:v>0.01675257731958763</c:v>
                </c:pt>
                <c:pt idx="2">
                  <c:v>0.031662781662781664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100">
                  <a:solidFill>
                    <a:srgbClr val="1C1915"/>
                  </a:solidFill>
                  <a:latin typeface="Calibri"/>
                </a:defRPr>
              </a:pPr>
            </a:p>
          </c:txPr>
          <c:dLblPos val="r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E3DCD0"/>
            </a:solidFill>
          </a:ln>
        </c:spPr>
        <c:txPr>
          <a:bodyPr/>
          <a:lstStyle/>
          <a:p>
            <a:pPr>
              <a:defRPr sz="1200">
                <a:solidFill>
                  <a:srgbClr val="1C1915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04052836052836053"/>
          <c:min val="0.0"/>
        </c:scaling>
        <c:delete/>
        <c:axPos val="b"/>
        <c:majorTickMark val="none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data on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f1 · Monthly churn (weighted) · churn_rate_quarter · main.cs.churn_monthly · statement duckdb-2d0b066a031a · queried 2026-10-18 07:41 UTC</a:t>
            </a:r>
          </a:p>
          <a:p>
            <a:r>
              <a:t>f2 · Monthly NRR (weighted) · nrr_quarter · main.cs.revenue_monthly · statement duckdb-155de445a62c · queried 2026-10-18 07:41 UTC</a:t>
            </a:r>
          </a:p>
          <a:p>
            <a:r>
              <a:t>f3 · Active subscriptions · active_subscriptions · main.cs.churn_monthly · statement duckdb-a81513bbd28d · queried 2026-10-18 07:41 UTC</a:t>
            </a:r>
          </a:p>
          <a:p>
            <a:r>
              <a:t>f4 · Monthly churn · churn_trend_monthly · main.cs.churn_monthly · statement duckdb-8a32313abbf5 · queried 2026-10-18 07:41 UTC</a:t>
            </a:r>
          </a:p>
          <a:p>
            <a:r>
              <a:t>f1 SQL:</a:t>
            </a:r>
          </a:p>
          <a:p>
            <a:r>
              <a:t>SELECT CASE WHEN SUM(active_start) &lt;&gt; 0 THEN SUM(churned) / SUM(active_start) ELSE NULL END AS churn_rate FROM lake.cs.v_churn_monthly__bob WHERE "month" &gt;= $start_month AND "month" &lt; $end_month</a:t>
            </a:r>
          </a:p>
          <a:p>
            <a:r>
              <a:t>f1 parameters: {"end_month": "2026-10-01", "start_month": "2026-07-01"}</a:t>
            </a:r>
          </a:p>
          <a:p>
            <a:r>
              <a:t>f1 template SHA-256: a897f662afe1919b49268c820e58ea712c28e38f408d7d77465b1debd7053d63</a:t>
            </a:r>
          </a:p>
          <a:p>
            <a:r>
              <a:t>f2 SQL:</a:t>
            </a:r>
          </a:p>
          <a:p>
            <a:r>
              <a:t>SELECT CASE WHEN SUM(mrr_start) &lt;&gt; 0 THEN SUM(mrr_retained) / SUM(mrr_start) ELSE NULL END AS nrr FROM lake.cs.v_revenue_monthly__bob WHERE "month" &gt;= $start_month AND "month" &lt; $end_month</a:t>
            </a:r>
          </a:p>
          <a:p>
            <a:r>
              <a:t>f2 parameters: {"end_month": "2026-10-01", "start_month": "2026-07-01"}</a:t>
            </a:r>
          </a:p>
          <a:p>
            <a:r>
              <a:t>f2 template SHA-256: ec85130488823e6392d012cfb710d63468646785670750d0ae22183c9730561a</a:t>
            </a:r>
          </a:p>
          <a:p>
            <a:r>
              <a:t>f3 SQL:</a:t>
            </a:r>
          </a:p>
          <a:p>
            <a:r>
              <a:t>SELECT SUM(active_start) AS active_subscriptions FROM lake.cs.v_churn_monthly__bob WHERE "month" = $start_month</a:t>
            </a:r>
          </a:p>
          <a:p>
            <a:r>
              <a:t>f3 parameters: {"start_month": "2026-07-01"}</a:t>
            </a:r>
          </a:p>
          <a:p>
            <a:r>
              <a:t>f3 template SHA-256: 0e1eca481a61ce5a487969e9b73097141164bf4d00f5b0c10955808376a6caaf</a:t>
            </a:r>
          </a:p>
          <a:p>
            <a:r>
              <a:t>f4 SQL:</a:t>
            </a:r>
          </a:p>
          <a:p>
            <a:r>
              <a:t>SELECT STRFTIME(CAST("month" AS TIMESTAMP), '%Y-%m') AS period, CASE WHEN SUM(active_start) &lt;&gt; 0 THEN SUM(churned) / SUM(active_start) ELSE NULL END AS churn_rate FROM lake.cs.v_churn_monthly__bob WHERE "month" &gt;= $start_month AND "month" &lt; $end_month GROUP BY STRFTIME(CAST("month" AS TIMESTAMP), '%Y-%m') ORDER BY period NULLS FIRST</a:t>
            </a:r>
          </a:p>
          <a:p>
            <a:r>
              <a:t>f4 parameters: {"end_month": "2026-10-01", "start_month": "2026-07-01"}</a:t>
            </a:r>
          </a:p>
          <a:p>
            <a:r>
              <a:t>f4 template SHA-256: a65c9afc5de386b7fa7a0a0e07559acc0c0782b68368b4788443dcc983561b89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f4 · Monthly churn · churn_trend_monthly · main.cs.churn_monthly · statement duckdb-8a32313abbf5 · queried 2026-10-18 07:41 UTC</a:t>
            </a:r>
          </a:p>
          <a:p>
            <a:r>
              <a:t>f4 SQL:</a:t>
            </a:r>
          </a:p>
          <a:p>
            <a:r>
              <a:t>SELECT STRFTIME(CAST("month" AS TIMESTAMP), '%Y-%m') AS period, CASE WHEN SUM(active_start) &lt;&gt; 0 THEN SUM(churned) / SUM(active_start) ELSE NULL END AS churn_rate FROM lake.cs.v_churn_monthly__bob WHERE "month" &gt;= $start_month AND "month" &lt; $end_month GROUP BY STRFTIME(CAST("month" AS TIMESTAMP), '%Y-%m') ORDER BY period NULLS FIRST</a:t>
            </a:r>
          </a:p>
          <a:p>
            <a:r>
              <a:t>f4 parameters: {"end_month": "2026-10-01", "start_month": "2026-07-01"}</a:t>
            </a:r>
          </a:p>
          <a:p>
            <a:r>
              <a:t>f4 template SHA-256: a65c9afc5de386b7fa7a0a0e07559acc0c0782b68368b4788443dcc983561b89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f5 · Weighted monthly churn by segment · churn_by_segment · main.cs.churn_monthly · statement duckdb-2a5b138f207b · queried 2026-10-18 07:41 UTC</a:t>
            </a:r>
          </a:p>
          <a:p>
            <a:r>
              <a:t>f5 SQL:</a:t>
            </a:r>
          </a:p>
          <a:p>
            <a:r>
              <a:t>SELECT segment, CASE WHEN SUM(active_start) &lt;&gt; 0 THEN SUM(churned) / SUM(active_start) ELSE NULL END AS churn_rate FROM lake.cs.v_churn_monthly__bob WHERE "month" &gt;= $start_month AND "month" &lt; $end_month GROUP BY segment ORDER BY segment NULLS FIRST</a:t>
            </a:r>
          </a:p>
          <a:p>
            <a:r>
              <a:t>f5 parameters: {"end_month": "2026-10-01", "start_month": "2026-07-01"}</a:t>
            </a:r>
          </a:p>
          <a:p>
            <a:r>
              <a:t>f5 template SHA-256: 99ee1f03a8e2648a6287d555c03e257b8edeacc38d7f3c16b260ad6e88079e9f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f1 · Monthly churn (weighted) · churn_rate_quarter · main.cs.churn_monthly · statement duckdb-2d0b066a031a · queried 2026-10-18 07:41 UTC</a:t>
            </a:r>
          </a:p>
          <a:p>
            <a:r>
              <a:t>f2 · Monthly NRR (weighted) · nrr_quarter · main.cs.revenue_monthly · statement duckdb-155de445a62c · queried 2026-10-18 07:41 UTC</a:t>
            </a:r>
          </a:p>
          <a:p>
            <a:r>
              <a:t>f3 · Active subscriptions · active_subscriptions · main.cs.churn_monthly · statement duckdb-a81513bbd28d · queried 2026-10-18 07:41 UTC</a:t>
            </a:r>
          </a:p>
          <a:p>
            <a:r>
              <a:t>f4 · Monthly churn · churn_trend_monthly · main.cs.churn_monthly · statement duckdb-8a32313abbf5 · queried 2026-10-18 07:41 UTC</a:t>
            </a:r>
          </a:p>
          <a:p>
            <a:r>
              <a:t>f5 · Weighted monthly churn by segment · churn_by_segment · main.cs.churn_monthly · statement duckdb-2a5b138f207b · queried 2026-10-18 07:41 UTC</a:t>
            </a:r>
          </a:p>
          <a:p>
            <a:r>
              <a:t>f1 SQL:</a:t>
            </a:r>
          </a:p>
          <a:p>
            <a:r>
              <a:t>SELECT CASE WHEN SUM(active_start) &lt;&gt; 0 THEN SUM(churned) / SUM(active_start) ELSE NULL END AS churn_rate FROM lake.cs.v_churn_monthly__bob WHERE "month" &gt;= $start_month AND "month" &lt; $end_month</a:t>
            </a:r>
          </a:p>
          <a:p>
            <a:r>
              <a:t>f1 parameters: {"end_month": "2026-10-01", "start_month": "2026-07-01"}</a:t>
            </a:r>
          </a:p>
          <a:p>
            <a:r>
              <a:t>f1 template SHA-256: a897f662afe1919b49268c820e58ea712c28e38f408d7d77465b1debd7053d63</a:t>
            </a:r>
          </a:p>
          <a:p>
            <a:r>
              <a:t>f2 SQL:</a:t>
            </a:r>
          </a:p>
          <a:p>
            <a:r>
              <a:t>SELECT CASE WHEN SUM(mrr_start) &lt;&gt; 0 THEN SUM(mrr_retained) / SUM(mrr_start) ELSE NULL END AS nrr FROM lake.cs.v_revenue_monthly__bob WHERE "month" &gt;= $start_month AND "month" &lt; $end_month</a:t>
            </a:r>
          </a:p>
          <a:p>
            <a:r>
              <a:t>f2 parameters: {"end_month": "2026-10-01", "start_month": "2026-07-01"}</a:t>
            </a:r>
          </a:p>
          <a:p>
            <a:r>
              <a:t>f2 template SHA-256: ec85130488823e6392d012cfb710d63468646785670750d0ae22183c9730561a</a:t>
            </a:r>
          </a:p>
          <a:p>
            <a:r>
              <a:t>f3 SQL:</a:t>
            </a:r>
          </a:p>
          <a:p>
            <a:r>
              <a:t>SELECT SUM(active_start) AS active_subscriptions FROM lake.cs.v_churn_monthly__bob WHERE "month" = $start_month</a:t>
            </a:r>
          </a:p>
          <a:p>
            <a:r>
              <a:t>f3 parameters: {"start_month": "2026-07-01"}</a:t>
            </a:r>
          </a:p>
          <a:p>
            <a:r>
              <a:t>f3 template SHA-256: 0e1eca481a61ce5a487969e9b73097141164bf4d00f5b0c10955808376a6caaf</a:t>
            </a:r>
          </a:p>
          <a:p>
            <a:r>
              <a:t>f4 SQL:</a:t>
            </a:r>
          </a:p>
          <a:p>
            <a:r>
              <a:t>SELECT STRFTIME(CAST("month" AS TIMESTAMP), '%Y-%m') AS period, CASE WHEN SUM(active_start) &lt;&gt; 0 THEN SUM(churned) / SUM(active_start) ELSE NULL END AS churn_rate FROM lake.cs.v_churn_monthly__bob WHERE "month" &gt;= $start_month AND "month" &lt; $end_month GROUP BY STRFTIME(CAST("month" AS TIMESTAMP), '%Y-%m') ORDER BY period NULLS FIRST</a:t>
            </a:r>
          </a:p>
          <a:p>
            <a:r>
              <a:t>f4 parameters: {"end_month": "2026-10-01", "start_month": "2026-07-01"}</a:t>
            </a:r>
          </a:p>
          <a:p>
            <a:r>
              <a:t>f4 template SHA-256: a65c9afc5de386b7fa7a0a0e07559acc0c0782b68368b4788443dcc983561b89</a:t>
            </a:r>
          </a:p>
          <a:p>
            <a:r>
              <a:t>f5 SQL:</a:t>
            </a:r>
          </a:p>
          <a:p>
            <a:r>
              <a:t>SELECT segment, CASE WHEN SUM(active_start) &lt;&gt; 0 THEN SUM(churned) / SUM(active_start) ELSE NULL END AS churn_rate FROM lake.cs.v_churn_monthly__bob WHERE "month" &gt;= $start_month AND "month" &lt; $end_month GROUP BY segment ORDER BY segment NULLS FIRST</a:t>
            </a:r>
          </a:p>
          <a:p>
            <a:r>
              <a:t>f5 parameters: {"end_month": "2026-10-01", "start_month": "2026-07-01"}</a:t>
            </a:r>
          </a:p>
          <a:p>
            <a:r>
              <a:t>f5 template SHA-256: 99ee1f03a8e2648a6287d555c03e257b8edeacc38d7f3c16b260ad6e88079e9f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1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27520" y="0"/>
            <a:ext cx="5364480" cy="6858000"/>
          </a:xfrm>
          <a:prstGeom prst="rect">
            <a:avLst/>
          </a:prstGeom>
          <a:solidFill>
            <a:srgbClr val="F4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781800" y="0"/>
            <a:ext cx="45720" cy="6858000"/>
          </a:xfrm>
          <a:prstGeom prst="rect">
            <a:avLst/>
          </a:prstGeom>
          <a:solidFill>
            <a:srgbClr val="9C4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67600" y="5824728"/>
            <a:ext cx="457200" cy="576072"/>
          </a:xfrm>
          <a:prstGeom prst="rect">
            <a:avLst/>
          </a:prstGeom>
          <a:solidFill>
            <a:srgbClr val="9C4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979664" y="5479085"/>
            <a:ext cx="457200" cy="921715"/>
          </a:xfrm>
          <a:prstGeom prst="rect">
            <a:avLst/>
          </a:prstGeom>
          <a:solidFill>
            <a:srgbClr val="1A31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491728" y="5914340"/>
            <a:ext cx="457200" cy="486460"/>
          </a:xfrm>
          <a:prstGeom prst="rect">
            <a:avLst/>
          </a:prstGeom>
          <a:solidFill>
            <a:srgbClr val="3E6A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003792" y="5248656"/>
            <a:ext cx="457200" cy="1152144"/>
          </a:xfrm>
          <a:prstGeom prst="rect">
            <a:avLst/>
          </a:prstGeom>
          <a:solidFill>
            <a:srgbClr val="9C4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515856" y="5658308"/>
            <a:ext cx="457200" cy="742492"/>
          </a:xfrm>
          <a:prstGeom prst="rect">
            <a:avLst/>
          </a:prstGeom>
          <a:solidFill>
            <a:srgbClr val="1A31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27920" y="5376672"/>
            <a:ext cx="457200" cy="1024128"/>
          </a:xfrm>
          <a:prstGeom prst="rect">
            <a:avLst/>
          </a:prstGeom>
          <a:solidFill>
            <a:srgbClr val="3E6A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920240"/>
            <a:ext cx="6077712" cy="2011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0">
                <a:solidFill>
                  <a:srgbClr val="F4F0E8"/>
                </a:solidFill>
                <a:latin typeface="Georgia"/>
              </a:rPr>
              <a:t>Customer retention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0">
                <a:solidFill>
                  <a:srgbClr val="F4F0E8"/>
                </a:solidFill>
                <a:latin typeface="Georgia"/>
              </a:rPr>
              <a:t>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023360"/>
            <a:ext cx="6077712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C5D0D6"/>
                </a:solidFill>
                <a:latin typeface="Calibri"/>
              </a:rPr>
              <a:t>Prepared for the exec audience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648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5D0D6"/>
                </a:solidFill>
                <a:latin typeface="Calibri"/>
              </a:rPr>
              <a:t>DeckSmith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20512" y="6464808"/>
            <a:ext cx="54864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4F0E8"/>
                </a:solidFill>
                <a:latin typeface="Georgia"/>
              </a:rPr>
              <a:t>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58144" cy="841248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>
                <a:solidFill>
                  <a:srgbClr val="1C1915"/>
                </a:solidFill>
                <a:latin typeface="Georgia"/>
              </a:rPr>
              <a:t>Where retention stands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34440"/>
            <a:ext cx="365760" cy="27432"/>
          </a:xfrm>
          <a:prstGeom prst="rect">
            <a:avLst/>
          </a:prstGeom>
          <a:solidFill>
            <a:srgbClr val="9C4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1417320"/>
            <a:ext cx="3740912" cy="2377440"/>
          </a:xfrm>
          <a:prstGeom prst="roundRect">
            <a:avLst>
              <a:gd name="adj" fmla="val 8000"/>
            </a:avLst>
          </a:prstGeom>
          <a:solidFill>
            <a:srgbClr val="FB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417320"/>
            <a:ext cx="3740912" cy="36576"/>
          </a:xfrm>
          <a:prstGeom prst="rect">
            <a:avLst/>
          </a:prstGeom>
          <a:solidFill>
            <a:srgbClr val="9C4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554480"/>
            <a:ext cx="3466592" cy="7315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1C1915"/>
                </a:solidFill>
                <a:latin typeface="Georgia"/>
              </a:rPr>
              <a:t>2.4%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286000"/>
            <a:ext cx="3466592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C564C"/>
                </a:solidFill>
                <a:latin typeface="Calibri"/>
              </a:rPr>
              <a:t>Monthly churn (weighted)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088" y="3154680"/>
            <a:ext cx="1001460" cy="320040"/>
          </a:xfrm>
          <a:prstGeom prst="rect">
            <a:avLst/>
          </a:prstGeom>
          <a:solidFill>
            <a:srgbClr val="9C4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936654" y="3208778"/>
            <a:ext cx="1001460" cy="265942"/>
          </a:xfrm>
          <a:prstGeom prst="rect">
            <a:avLst/>
          </a:prstGeom>
          <a:solidFill>
            <a:srgbClr val="9C4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169220" y="3385109"/>
            <a:ext cx="1001460" cy="89611"/>
          </a:xfrm>
          <a:prstGeom prst="rect">
            <a:avLst/>
          </a:prstGeom>
          <a:solidFill>
            <a:srgbClr val="9C4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788920"/>
            <a:ext cx="3466592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9C4221"/>
                </a:solidFill>
                <a:latin typeface="Calibri"/>
              </a:rPr>
              <a:t>Ended lower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7840" y="1417320"/>
            <a:ext cx="3740912" cy="2377440"/>
          </a:xfrm>
          <a:prstGeom prst="roundRect">
            <a:avLst>
              <a:gd name="adj" fmla="val 8000"/>
            </a:avLst>
          </a:prstGeom>
          <a:solidFill>
            <a:srgbClr val="FB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07840" y="1417320"/>
            <a:ext cx="3740912" cy="36576"/>
          </a:xfrm>
          <a:prstGeom prst="rect">
            <a:avLst/>
          </a:prstGeom>
          <a:solidFill>
            <a:srgbClr val="9C4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45000" y="1554480"/>
            <a:ext cx="3466592" cy="7315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1C1915"/>
                </a:solidFill>
                <a:latin typeface="Georgia"/>
              </a:rPr>
              <a:t>99.8%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5000" y="2286000"/>
            <a:ext cx="3466592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C564C"/>
                </a:solidFill>
                <a:latin typeface="Calibri"/>
              </a:rPr>
              <a:t>Monthly NRR (weighted)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8752" y="1417320"/>
            <a:ext cx="3576320" cy="2377440"/>
          </a:xfrm>
          <a:prstGeom prst="roundRect">
            <a:avLst>
              <a:gd name="adj" fmla="val 8000"/>
            </a:avLst>
          </a:prstGeom>
          <a:solidFill>
            <a:srgbClr val="FB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8752" y="1417320"/>
            <a:ext cx="3576320" cy="36576"/>
          </a:xfrm>
          <a:prstGeom prst="rect">
            <a:avLst/>
          </a:prstGeom>
          <a:solidFill>
            <a:srgbClr val="9C4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5912" y="1554480"/>
            <a:ext cx="3302000" cy="7315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1C1915"/>
                </a:solidFill>
                <a:latin typeface="Georgia"/>
              </a:rPr>
              <a:t>6,172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5912" y="2286000"/>
            <a:ext cx="33020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C564C"/>
                </a:solidFill>
                <a:latin typeface="Calibri"/>
              </a:rPr>
              <a:t>Active subscriptions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3931920"/>
            <a:ext cx="11058144" cy="1188720"/>
          </a:xfrm>
          <a:prstGeom prst="roundRect">
            <a:avLst>
              <a:gd name="adj" fmla="val 8000"/>
            </a:avLst>
          </a:prstGeom>
          <a:solidFill>
            <a:srgbClr val="FB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931920"/>
            <a:ext cx="54864" cy="1188720"/>
          </a:xfrm>
          <a:prstGeom prst="rect">
            <a:avLst/>
          </a:prstGeom>
          <a:solidFill>
            <a:srgbClr val="9C4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4023360"/>
            <a:ext cx="10646664" cy="10058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C1915"/>
                </a:solidFill>
                <a:latin typeface="Calibri"/>
              </a:rPr>
              <a:t>Weighted monthly churn was 2.4% over the review period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6437376"/>
            <a:ext cx="11058144" cy="9144"/>
          </a:xfrm>
          <a:prstGeom prst="rect">
            <a:avLst/>
          </a:prstGeom>
          <a:solidFill>
            <a:srgbClr val="E3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6501384"/>
            <a:ext cx="10253472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C564C"/>
                </a:solidFill>
                <a:latin typeface="Calibri"/>
              </a:rPr>
              <a:t>Sources   Monthly churn (weighted)   ·   Monthly NRR (weighted)   ·   Active subscriptions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84992" y="6483096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1915"/>
                </a:solidFill>
                <a:latin typeface="Georgia"/>
              </a:rPr>
              <a:t>II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58144" cy="841248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>
                <a:solidFill>
                  <a:srgbClr val="1C1915"/>
                </a:solidFill>
                <a:latin typeface="Georgia"/>
              </a:rPr>
              <a:t>Monthly churn ended lower than it started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34440"/>
            <a:ext cx="365760" cy="27432"/>
          </a:xfrm>
          <a:prstGeom prst="rect">
            <a:avLst/>
          </a:prstGeom>
          <a:solidFill>
            <a:srgbClr val="9C4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1554480"/>
            <a:ext cx="11058144" cy="4791456"/>
          </a:xfrm>
          <a:prstGeom prst="roundRect">
            <a:avLst>
              <a:gd name="adj" fmla="val 4000"/>
            </a:avLst>
          </a:prstGeom>
          <a:solidFill>
            <a:srgbClr val="FB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04088" y="1691640"/>
          <a:ext cx="10783824" cy="451713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437376"/>
            <a:ext cx="11058144" cy="9144"/>
          </a:xfrm>
          <a:prstGeom prst="rect">
            <a:avLst/>
          </a:prstGeom>
          <a:solidFill>
            <a:srgbClr val="E3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501384"/>
            <a:ext cx="10253472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C564C"/>
                </a:solidFill>
                <a:latin typeface="Calibri"/>
              </a:rPr>
              <a:t>Sources   Monthly churn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84992" y="6483096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1915"/>
                </a:solidFill>
                <a:latin typeface="Georgia"/>
              </a:rPr>
              <a:t>III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58144" cy="841248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>
                <a:solidFill>
                  <a:srgbClr val="1C1915"/>
                </a:solidFill>
                <a:latin typeface="Georgia"/>
              </a:rPr>
              <a:t>Churn is highest in SMB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34440"/>
            <a:ext cx="365760" cy="27432"/>
          </a:xfrm>
          <a:prstGeom prst="rect">
            <a:avLst/>
          </a:prstGeom>
          <a:solidFill>
            <a:srgbClr val="9C4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1554480"/>
            <a:ext cx="11058144" cy="4791456"/>
          </a:xfrm>
          <a:prstGeom prst="roundRect">
            <a:avLst>
              <a:gd name="adj" fmla="val 4000"/>
            </a:avLst>
          </a:prstGeom>
          <a:solidFill>
            <a:srgbClr val="FB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04088" y="1691640"/>
          <a:ext cx="10783824" cy="451713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437376"/>
            <a:ext cx="11058144" cy="9144"/>
          </a:xfrm>
          <a:prstGeom prst="rect">
            <a:avLst/>
          </a:prstGeom>
          <a:solidFill>
            <a:srgbClr val="E3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501384"/>
            <a:ext cx="10253472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C564C"/>
                </a:solidFill>
                <a:latin typeface="Calibri"/>
              </a:rPr>
              <a:t>Sources   Weighted monthly churn by segment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84992" y="6483096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1915"/>
                </a:solidFill>
                <a:latin typeface="Georgia"/>
              </a:rPr>
              <a:t>IV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58144" cy="841248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>
                <a:solidFill>
                  <a:srgbClr val="1C1915"/>
                </a:solidFill>
                <a:latin typeface="Georgia"/>
              </a:rPr>
              <a:t>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34440"/>
            <a:ext cx="365760" cy="27432"/>
          </a:xfrm>
          <a:prstGeom prst="rect">
            <a:avLst/>
          </a:prstGeom>
          <a:solidFill>
            <a:srgbClr val="9C4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322576"/>
            <a:ext cx="11058144" cy="9144"/>
          </a:xfrm>
          <a:prstGeom prst="rect">
            <a:avLst/>
          </a:prstGeom>
          <a:solidFill>
            <a:srgbClr val="E3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600200"/>
            <a:ext cx="914400" cy="7040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9C4221"/>
                </a:solidFill>
                <a:latin typeface="Georgia"/>
              </a:rPr>
              <a:t>f1 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72768" y="1600200"/>
            <a:ext cx="3980931" cy="7040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C1915"/>
                </a:solidFill>
                <a:latin typeface="Calibri"/>
              </a:rPr>
              <a:t>Monthly churn (weighted)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53699" y="1600200"/>
            <a:ext cx="6071373" cy="7040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C564C"/>
                </a:solidFill>
                <a:latin typeface="Calibri"/>
              </a:rPr>
              <a:t>churn_rate_quarter    main.cs.churn_monthly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054096"/>
            <a:ext cx="11058144" cy="9144"/>
          </a:xfrm>
          <a:prstGeom prst="rect">
            <a:avLst/>
          </a:prstGeom>
          <a:solidFill>
            <a:srgbClr val="E3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31720"/>
            <a:ext cx="914400" cy="7040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9C4221"/>
                </a:solidFill>
                <a:latin typeface="Georgia"/>
              </a:rPr>
              <a:t>f2 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72768" y="2331720"/>
            <a:ext cx="3980931" cy="7040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C1915"/>
                </a:solidFill>
                <a:latin typeface="Calibri"/>
              </a:rPr>
              <a:t>Monthly NRR (weighted)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53699" y="2331720"/>
            <a:ext cx="6071373" cy="7040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C564C"/>
                </a:solidFill>
                <a:latin typeface="Calibri"/>
              </a:rPr>
              <a:t>nrr_quarter    main.cs.revenue_monthly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3785616"/>
            <a:ext cx="11058144" cy="9144"/>
          </a:xfrm>
          <a:prstGeom prst="rect">
            <a:avLst/>
          </a:prstGeom>
          <a:solidFill>
            <a:srgbClr val="E3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3063240"/>
            <a:ext cx="914400" cy="7040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9C4221"/>
                </a:solidFill>
                <a:latin typeface="Georgia"/>
              </a:rPr>
              <a:t>f3 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72768" y="3063240"/>
            <a:ext cx="3980931" cy="7040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C1915"/>
                </a:solidFill>
                <a:latin typeface="Calibri"/>
              </a:rPr>
              <a:t>Active subscriptions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53699" y="3063240"/>
            <a:ext cx="6071373" cy="7040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C564C"/>
                </a:solidFill>
                <a:latin typeface="Calibri"/>
              </a:rPr>
              <a:t>active_subscriptions    main.cs.churn_monthly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4517136"/>
            <a:ext cx="11058144" cy="9144"/>
          </a:xfrm>
          <a:prstGeom prst="rect">
            <a:avLst/>
          </a:prstGeom>
          <a:solidFill>
            <a:srgbClr val="E3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794760"/>
            <a:ext cx="914400" cy="7040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9C4221"/>
                </a:solidFill>
                <a:latin typeface="Georgia"/>
              </a:rPr>
              <a:t>f4 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3794760"/>
            <a:ext cx="3980931" cy="7040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C1915"/>
                </a:solidFill>
                <a:latin typeface="Calibri"/>
              </a:rPr>
              <a:t>Monthly churn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53699" y="3794760"/>
            <a:ext cx="6071373" cy="7040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C564C"/>
                </a:solidFill>
                <a:latin typeface="Calibri"/>
              </a:rPr>
              <a:t>churn_trend_monthly    main.cs.churn_monthly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5248656"/>
            <a:ext cx="11058144" cy="9144"/>
          </a:xfrm>
          <a:prstGeom prst="rect">
            <a:avLst/>
          </a:prstGeom>
          <a:solidFill>
            <a:srgbClr val="E3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526280"/>
            <a:ext cx="914400" cy="7040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9C4221"/>
                </a:solidFill>
                <a:latin typeface="Georgia"/>
              </a:rPr>
              <a:t>f5 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72768" y="4526280"/>
            <a:ext cx="3980931" cy="7040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C1915"/>
                </a:solidFill>
                <a:latin typeface="Calibri"/>
              </a:rPr>
              <a:t>Weighted monthly churn by segment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53699" y="4526280"/>
            <a:ext cx="6071373" cy="7040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C564C"/>
                </a:solidFill>
                <a:latin typeface="Calibri"/>
              </a:rPr>
              <a:t>churn_by_segment    main.cs.churn_monthly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6437376"/>
            <a:ext cx="11058144" cy="9144"/>
          </a:xfrm>
          <a:prstGeom prst="rect">
            <a:avLst/>
          </a:prstGeom>
          <a:solidFill>
            <a:srgbClr val="E3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84992" y="6483096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1915"/>
                </a:solidFill>
                <a:latin typeface="Georgia"/>
              </a:rPr>
              <a:t>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Customer retention review</dc:title>
  <dc:subject>run_id=bc3843684e0945b88cb6eaa449fc81c0</dc:subject>
  <dc:creator>DeckSmith</dc:creator>
  <cp:keywords>corp_default@1.0</cp:keywords>
  <dc:description>generated using python-pptx</dc:description>
  <cp:lastModifiedBy>Steve Canny</cp:lastModifiedBy>
  <cp:revision>1</cp:revision>
  <dcterms:created xsi:type="dcterms:W3CDTF">2026-01-01T00:00:00Z</dcterms:created>
  <dcterms:modified xsi:type="dcterms:W3CDTF">2026-01-01T00:00:00Z</dcterms:modified>
  <cp:category>meridian</cp:category>
</cp:coreProperties>
</file>