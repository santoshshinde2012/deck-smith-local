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</c:v>
                </c:pt>
              </c:strCache>
            </c:strRef>
          </c:tx>
          <c:spPr>
            <a:ln w="28575">
              <a:solidFill>
                <a:srgbClr val="1A3144"/>
              </a:solidFill>
            </a:ln>
          </c:spPr>
          <c:marker>
            <c:symbol val="circle"/>
            <c:size val="8"/>
            <c:spPr>
              <a:solidFill>
                <a:srgbClr val="1A3144"/>
              </a:solidFill>
              <a:ln>
                <a:noFill/>
              </a:ln>
            </c:spPr>
          </c:marker>
          <c:dPt>
            <c:idx val="0"/>
            <c:marker>
              <c:spPr>
                <a:solidFill>
                  <a:srgbClr val="1A3144"/>
                </a:solidFill>
                <a:ln>
                  <a:noFill/>
                </a:ln>
              </c:spPr>
            </c:marker>
          </c:dPt>
          <c:dPt>
            <c:idx val="1"/>
            <c:marker>
              <c:spPr>
                <a:solidFill>
                  <a:srgbClr val="1A3144"/>
                </a:solidFill>
                <a:ln>
                  <a:noFill/>
                </a:ln>
              </c:spPr>
            </c:marker>
          </c:dPt>
          <c:dPt>
            <c:idx val="2"/>
            <c:marker>
              <c:spPr>
                <a:solidFill>
                  <a:srgbClr val="9C4221"/>
                </a:solidFill>
                <a:ln>
                  <a:noFill/>
                </a:ln>
              </c:spPr>
            </c:marke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solidFill>
                  <a:srgbClr val="FBF9F5"/>
                </a:solidFill>
              </c:spPr>
              <c:txPr>
                <a:bodyPr/>
                <a:lstStyle/>
                <a:p>
                  <a:pPr>
                    <a:defRPr sz="1200" b="1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0.024465327284510695</c:v>
                </c:pt>
                <c:pt idx="1">
                  <c:v>0.023969319271332695</c:v>
                </c:pt>
                <c:pt idx="2">
                  <c:v>0.022352568167406467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C1915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DCD0"/>
            </a:solidFill>
          </a:ln>
        </c:spPr>
        <c:txPr>
          <a:bodyPr/>
          <a:lstStyle/>
          <a:p>
            <a:pPr>
              <a:defRPr sz="1200">
                <a:solidFill>
                  <a:srgbClr val="1C191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025838620710628445"/>
          <c:min val="0.02055672291786787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monthly churn by segment</c:v>
                </c:pt>
              </c:strCache>
            </c:strRef>
          </c:tx>
          <c:spPr>
            <a:solidFill>
              <a:srgbClr val="1A3144"/>
            </a:solidFill>
            <a:ln>
              <a:noFill/>
            </a:ln>
          </c:spPr>
          <c:dPt>
            <c:idx val="0"/>
            <c:spPr>
              <a:solidFill>
                <a:srgbClr val="1A3144"/>
              </a:solidFill>
              <a:ln>
                <a:noFill/>
              </a:ln>
            </c:spPr>
          </c:dPt>
          <c:dPt>
            <c:idx val="1"/>
            <c:spPr>
              <a:solidFill>
                <a:srgbClr val="1A3144"/>
              </a:solidFill>
              <a:ln>
                <a:noFill/>
              </a:ln>
            </c:spPr>
          </c:dPt>
          <c:dPt>
            <c:idx val="2"/>
            <c:spPr>
              <a:solidFill>
                <a:srgbClr val="9C4221"/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1C1915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9C4221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0.005371530886302597</c:v>
                </c:pt>
                <c:pt idx="1">
                  <c:v>0.01675257731958763</c:v>
                </c:pt>
                <c:pt idx="2">
                  <c:v>0.031662781662781664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C1915"/>
                  </a:solidFill>
                  <a:latin typeface="Calibri"/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3DCD0"/>
            </a:solidFill>
          </a:ln>
        </c:spPr>
        <c:txPr>
          <a:bodyPr/>
          <a:lstStyle/>
          <a:p>
            <a:pPr>
              <a:defRPr sz="1200">
                <a:solidFill>
                  <a:srgbClr val="1C191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052836052836053"/>
          <c:min val="0.0"/>
        </c:scaling>
        <c:delete/>
        <c:axPos val="b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duckdb-272542a974cf · queried 2026-10-18 08:06 UTC</a:t>
            </a:r>
          </a:p>
          <a:p>
            <a:r>
              <a:t>f2 · Monthly NRR (weighted) · nrr_quarter · main.cs.revenue_monthly · statement duckdb-9113d58fbba8 · queried 2026-10-18 08:06 UTC</a:t>
            </a:r>
          </a:p>
          <a:p>
            <a:r>
              <a:t>f3 · Active subscriptions · active_subscriptions · main.cs.churn_monthly · statement duckdb-3a066ef1e495 · queried 2026-10-18 08:06 UTC</a:t>
            </a:r>
          </a:p>
          <a:p>
            <a:r>
              <a:t>f4 · Monthly churn · churn_trend_monthly · main.cs.churn_monthly · statement duckdb-7369bb8798d3 · queried 2026-10-18 08:06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 · Monthly churn · churn_trend_monthly · main.cs.churn_monthly · statement duckdb-7369bb8798d3 · queried 2026-10-18 08:06 UTC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duckdb-b9bf5643c92a · queried 2026-10-18 08:06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duckdb-272542a974cf · queried 2026-10-18 08:06 UTC</a:t>
            </a:r>
          </a:p>
          <a:p>
            <a:r>
              <a:t>f2 · Monthly NRR (weighted) · nrr_quarter · main.cs.revenue_monthly · statement duckdb-9113d58fbba8 · queried 2026-10-18 08:06 UTC</a:t>
            </a:r>
          </a:p>
          <a:p>
            <a:r>
              <a:t>f3 · Active subscriptions · active_subscriptions · main.cs.churn_monthly · statement duckdb-3a066ef1e495 · queried 2026-10-18 08:06 UTC</a:t>
            </a:r>
          </a:p>
          <a:p>
            <a:r>
              <a:t>f4 · Monthly churn · churn_trend_monthly · main.cs.churn_monthly · statement duckdb-7369bb8798d3 · queried 2026-10-18 08:06 UTC</a:t>
            </a:r>
          </a:p>
          <a:p>
            <a:r>
              <a:t>f5 · Weighted monthly churn by segment · churn_by_segment · main.cs.churn_monthly · statement duckdb-b9bf5643c92a · queried 2026-10-18 08:06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1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27520" y="0"/>
            <a:ext cx="5364480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81800" y="0"/>
            <a:ext cx="45720" cy="685800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67600" y="5824728"/>
            <a:ext cx="457200" cy="57607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79664" y="5479085"/>
            <a:ext cx="457200" cy="921715"/>
          </a:xfrm>
          <a:prstGeom prst="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91728" y="5914340"/>
            <a:ext cx="457200" cy="486460"/>
          </a:xfrm>
          <a:prstGeom prst="rect">
            <a:avLst/>
          </a:prstGeom>
          <a:solidFill>
            <a:srgbClr val="3E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3792" y="5248656"/>
            <a:ext cx="457200" cy="1152144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15856" y="5658308"/>
            <a:ext cx="457200" cy="742492"/>
          </a:xfrm>
          <a:prstGeom prst="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27920" y="5376672"/>
            <a:ext cx="457200" cy="1024128"/>
          </a:xfrm>
          <a:prstGeom prst="rect">
            <a:avLst/>
          </a:prstGeom>
          <a:solidFill>
            <a:srgbClr val="3E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6077712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4F0E8"/>
                </a:solidFill>
                <a:latin typeface="Georgia"/>
              </a:rPr>
              <a:t>Customer retention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4F0E8"/>
                </a:solidFill>
                <a:latin typeface="Georgia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23360"/>
            <a:ext cx="60777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5D0D6"/>
                </a:solidFill>
                <a:latin typeface="Calibri"/>
              </a:rPr>
              <a:t>Prepared for the exec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648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0D6"/>
                </a:solidFill>
                <a:latin typeface="Calibri"/>
              </a:rPr>
              <a:t>DeckSmith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0512" y="646480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4F0E8"/>
                </a:solidFill>
                <a:latin typeface="Georgia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Where retention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3740912" cy="237744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3740912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466592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5"/>
                </a:solidFill>
                <a:latin typeface="Georgia"/>
              </a:rPr>
              <a:t>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286000"/>
            <a:ext cx="34665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Monthly churn (weighted)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154680"/>
            <a:ext cx="1001460" cy="32004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36654" y="3208778"/>
            <a:ext cx="1001460" cy="26594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9220" y="3385109"/>
            <a:ext cx="1001460" cy="89611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788920"/>
            <a:ext cx="346659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C4221"/>
                </a:solidFill>
                <a:latin typeface="Calibri"/>
              </a:rPr>
              <a:t>Ended lower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840" y="1417320"/>
            <a:ext cx="3740912" cy="237744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7840" y="1417320"/>
            <a:ext cx="3740912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5000" y="1554480"/>
            <a:ext cx="3466592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5"/>
                </a:solidFill>
                <a:latin typeface="Georgia"/>
              </a:rPr>
              <a:t>99.8%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5000" y="2286000"/>
            <a:ext cx="346659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Monthly NRR (weighted)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8752" y="1417320"/>
            <a:ext cx="3576320" cy="237744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8752" y="1417320"/>
            <a:ext cx="3576320" cy="36576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5912" y="1554480"/>
            <a:ext cx="33020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1915"/>
                </a:solidFill>
                <a:latin typeface="Georgia"/>
              </a:rPr>
              <a:t>6,172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5912" y="2286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4C"/>
                </a:solidFill>
                <a:latin typeface="Calibri"/>
              </a:rPr>
              <a:t>Active subscriptions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31920"/>
            <a:ext cx="11058144" cy="1188720"/>
          </a:xfrm>
          <a:prstGeom prst="roundRect">
            <a:avLst>
              <a:gd name="adj" fmla="val 8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931920"/>
            <a:ext cx="54864" cy="118872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023360"/>
            <a:ext cx="10646664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Weighted monthly churn was 2.4% over the review period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Monthly churn (weighted)   ·   Monthly NRR (weighted)   ·   Active subscriptions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Monthly churn ended lower than it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Monthly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Churn is highest in SMB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58144" cy="4791456"/>
          </a:xfrm>
          <a:prstGeom prst="roundRect">
            <a:avLst>
              <a:gd name="adj" fmla="val 4000"/>
            </a:avLst>
          </a:prstGeom>
          <a:solidFill>
            <a:srgbClr val="FB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04088" y="1691640"/>
          <a:ext cx="10783824" cy="4517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01384"/>
            <a:ext cx="1025347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64C"/>
                </a:solidFill>
                <a:latin typeface="Calibri"/>
              </a:rPr>
              <a:t>Sources   Weighted monthly churn by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8144" cy="841248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915"/>
                </a:solidFill>
                <a:latin typeface="Georgia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34440"/>
            <a:ext cx="365760" cy="27432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3225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f1 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60020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churn (weighted)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3699" y="160020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churn_rate_quarter    main.cs.churn_monthly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05409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f2 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3172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NRR (weighted)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3699" y="233172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nrr_quarter    main.cs.revenue_monthly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8561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06324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f3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06324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Active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3699" y="306324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active_subscriptions    main.cs.churn_monthly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1713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9476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f4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9476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Monthly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3699" y="379476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churn_trend_monthly    main.cs.churn_monthly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24865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26280"/>
            <a:ext cx="914400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C4221"/>
                </a:solidFill>
                <a:latin typeface="Georgia"/>
              </a:rPr>
              <a:t>f5 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526280"/>
            <a:ext cx="3980931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Weighted monthly churn by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3699" y="4526280"/>
            <a:ext cx="6071373" cy="7040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4C"/>
                </a:solidFill>
                <a:latin typeface="Calibri"/>
              </a:rPr>
              <a:t>churn_by_segment    main.cs.churn_monthly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37376"/>
            <a:ext cx="11058144" cy="9144"/>
          </a:xfrm>
          <a:prstGeom prst="rect">
            <a:avLst/>
          </a:prstGeom>
          <a:solidFill>
            <a:srgbClr val="E3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84992" y="6483096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1915"/>
                </a:solidFill>
                <a:latin typeface="Georgia"/>
              </a:rPr>
              <a:t>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review</dc:title>
  <dc:subject>run_id=e26968d39b4143d295e9c3655dbb7695</dc:subject>
  <dc:creator>DeckSmith</dc:creator>
  <cp:keywords>corp_default@1.0</cp:keywords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>meridian</cp:category>
</cp:coreProperties>
</file>