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Monthly churn</c:v>
                </c:pt>
              </c:strCache>
            </c:strRef>
          </c:tx>
          <c:spPr>
            <a:ln w="28575">
              <a:solidFill>
                <a:srgbClr val="111113"/>
              </a:solidFill>
            </a:ln>
          </c:spPr>
          <c:marker>
            <c:symbol val="circle"/>
            <c:size val="8"/>
            <c:spPr>
              <a:solidFill>
                <a:srgbClr val="111113"/>
              </a:solidFill>
              <a:ln>
                <a:noFill/>
              </a:ln>
            </c:spPr>
          </c:marker>
          <c:dPt>
            <c:idx val="0"/>
            <c:marker>
              <c:spPr>
                <a:solidFill>
                  <a:srgbClr val="111113"/>
                </a:solidFill>
                <a:ln>
                  <a:noFill/>
                </a:ln>
              </c:spPr>
            </c:marker>
          </c:dPt>
          <c:dPt>
            <c:idx val="1"/>
            <c:marker>
              <c:spPr>
                <a:solidFill>
                  <a:srgbClr val="111113"/>
                </a:solidFill>
                <a:ln>
                  <a:noFill/>
                </a:ln>
              </c:spPr>
            </c:marker>
          </c:dPt>
          <c:dPt>
            <c:idx val="2"/>
            <c:marker>
              <c:spPr>
                <a:solidFill>
                  <a:srgbClr val="B45309"/>
                </a:solidFill>
                <a:ln>
                  <a:noFill/>
                </a:ln>
              </c:spPr>
            </c:marke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11113"/>
                      </a:solidFill>
                      <a:latin typeface="Calibri"/>
                    </a:defRPr>
                  </a:pPr>
                </a:p>
              </c:txPr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11113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>
                <a:solidFill>
                  <a:srgbClr val="FFFFFF"/>
                </a:solidFill>
              </c:spPr>
              <c:txPr>
                <a:bodyPr/>
                <a:lstStyle/>
                <a:p>
                  <a:pPr>
                    <a:defRPr sz="1200" b="1">
                      <a:solidFill>
                        <a:srgbClr val="111113"/>
                      </a:solidFill>
                      <a:latin typeface="Calibri"/>
                    </a:defRPr>
                  </a:pPr>
                </a:p>
              </c:txPr>
              <c:dLblPos val="l"/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Jul</c:v>
                </c:pt>
                <c:pt idx="1">
                  <c:v>Aug</c:v>
                </c:pt>
                <c:pt idx="2">
                  <c:v>Sep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0.024465327284510695</c:v>
                </c:pt>
                <c:pt idx="1">
                  <c:v>0.023969319271332695</c:v>
                </c:pt>
                <c:pt idx="2">
                  <c:v>0.022352568167406467</c:v>
                </c:pt>
              </c:numCache>
            </c:numRef>
          </c:val>
          <c:smooth val="0"/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111113"/>
                  </a:solidFill>
                  <a:latin typeface="Calibri"/>
                </a:defRPr>
              </a:pPr>
            </a:p>
          </c:txPr>
          <c:dLblPos val="t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none"/>
        <c:minorTickMark val="none"/>
        <c:tickLblPos val="nextTo"/>
        <c:spPr>
          <a:ln>
            <a:solidFill>
              <a:srgbClr val="E4E4E7"/>
            </a:solidFill>
          </a:ln>
        </c:spPr>
        <c:txPr>
          <a:bodyPr/>
          <a:lstStyle/>
          <a:p>
            <a:pPr>
              <a:defRPr sz="1200">
                <a:solidFill>
                  <a:srgbClr val="111113"/>
                </a:solidFill>
                <a:latin typeface="Calibri"/>
              </a:defRPr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ax val="0.025838620710628445"/>
          <c:min val="0.02055672291786787"/>
        </c:scaling>
        <c:delete/>
        <c:axPos val="l"/>
        <c:majorTickMark val="none"/>
        <c:minorTickMark val="none"/>
        <c:tickLblPos val="nextTo"/>
        <c:spPr>
          <a:ln>
            <a:noFill/>
          </a:ln>
        </c:spPr>
        <c:crossAx val="2118791784"/>
        <c:crosses val="autoZero"/>
      </c:valAx>
    </c:plotArea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Weighted monthly churn by segment</c:v>
                </c:pt>
              </c:strCache>
            </c:strRef>
          </c:tx>
          <c:spPr>
            <a:solidFill>
              <a:srgbClr val="111113"/>
            </a:solidFill>
            <a:ln>
              <a:noFill/>
            </a:ln>
          </c:spPr>
          <c:dPt>
            <c:idx val="0"/>
            <c:spPr>
              <a:solidFill>
                <a:srgbClr val="111113"/>
              </a:solidFill>
              <a:ln>
                <a:noFill/>
              </a:ln>
            </c:spPr>
          </c:dPt>
          <c:dPt>
            <c:idx val="1"/>
            <c:spPr>
              <a:solidFill>
                <a:srgbClr val="111113"/>
              </a:solidFill>
              <a:ln>
                <a:noFill/>
              </a:ln>
            </c:spPr>
          </c:dPt>
          <c:dPt>
            <c:idx val="2"/>
            <c:spPr>
              <a:solidFill>
                <a:srgbClr val="B45309"/>
              </a:solidFill>
              <a:ln>
                <a:noFill/>
              </a:ln>
            </c:spPr>
          </c:dPt>
          <c:dLbls>
            <c:dLbl>
              <c:idx val="0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11113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1"/>
              <c:spPr/>
              <c:txPr>
                <a:bodyPr/>
                <a:lstStyle/>
                <a:p>
                  <a:pPr>
                    <a:defRPr sz="1100" b="0">
                      <a:solidFill>
                        <a:srgbClr val="111113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dLbl>
              <c:idx val="2"/>
              <c:spPr/>
              <c:txPr>
                <a:bodyPr/>
                <a:lstStyle/>
                <a:p>
                  <a:pPr>
                    <a:defRPr sz="1200" b="1">
                      <a:solidFill>
                        <a:srgbClr val="B45309"/>
                      </a:solidFill>
                      <a:latin typeface="Calibri"/>
                    </a:defRPr>
                  </a:pPr>
                </a:p>
              </c:txPr>
              <c:showLegendKey val="0"/>
              <c:showVal val="1"/>
              <c:showCatName val="0"/>
              <c:showSerName val="0"/>
              <c:showPercent val="0"/>
              <c:showBubbleSize val="0"/>
            </c:dLbl>
            <c:showLegendKey val="0"/>
            <c:showVal val="0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Sheet1!$A$2:$A$4</c:f>
              <c:strCache>
                <c:ptCount val="3"/>
                <c:pt idx="0">
                  <c:v>Enterprise</c:v>
                </c:pt>
                <c:pt idx="1">
                  <c:v>Mid-market</c:v>
                </c:pt>
                <c:pt idx="2">
                  <c:v>SMB</c:v>
                </c:pt>
              </c:strCache>
            </c:strRef>
          </c:cat>
          <c:val>
            <c:numRef>
              <c:f>Sheet1!$B$2:$B$4</c:f>
              <c:numCache>
                <c:formatCode>0.0%</c:formatCode>
                <c:ptCount val="3"/>
                <c:pt idx="0">
                  <c:v>0.005371530886302597</c:v>
                </c:pt>
                <c:pt idx="1">
                  <c:v>0.01675257731958763</c:v>
                </c:pt>
                <c:pt idx="2">
                  <c:v>0.031662781662781664</c:v>
                </c:pt>
              </c:numCache>
            </c:numRef>
          </c:val>
        </c:ser>
        <c:dLbls>
          <c:numFmt formatCode="0.0%" sourceLinked="0"/>
          <c:txPr>
            <a:bodyPr/>
            <a:lstStyle/>
            <a:p>
              <a:pPr>
                <a:defRPr sz="1100">
                  <a:solidFill>
                    <a:srgbClr val="111113"/>
                  </a:solidFill>
                  <a:latin typeface="Calibri"/>
                </a:defRPr>
              </a:pPr>
            </a:p>
          </c:txPr>
          <c:dLblPos val="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none"/>
        <c:minorTickMark val="none"/>
        <c:tickLblPos val="nextTo"/>
        <c:spPr>
          <a:ln>
            <a:solidFill>
              <a:srgbClr val="E4E4E7"/>
            </a:solidFill>
          </a:ln>
        </c:spPr>
        <c:txPr>
          <a:bodyPr/>
          <a:lstStyle/>
          <a:p>
            <a:pPr>
              <a:defRPr sz="1200">
                <a:solidFill>
                  <a:srgbClr val="111113"/>
                </a:solidFill>
                <a:latin typeface="Calibri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0.04052836052836053"/>
          <c:min val="0.0"/>
        </c:scaling>
        <c:delete/>
        <c:axPos val="b"/>
        <c:majorTickMark val="none"/>
        <c:minorTickMark val="none"/>
        <c:tickLblPos val="nextTo"/>
        <c:spPr>
          <a:ln>
            <a:noFill/>
          </a:ln>
        </c:sp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Monthly churn (weighted) · churn_rate_quarter · main.cs.churn_monthly · statement duckdb-16075aee0f1b · queried 2026-10-18 08:06 UTC</a:t>
            </a:r>
          </a:p>
          <a:p>
            <a:r>
              <a:t>f2 · Monthly NRR (weighted) · nrr_quarter · main.cs.revenue_monthly · statement duckdb-f532014d0e5c · queried 2026-10-18 08:06 UTC</a:t>
            </a:r>
          </a:p>
          <a:p>
            <a:r>
              <a:t>f3 · Active subscriptions · active_subscriptions · main.cs.churn_monthly · statement duckdb-71763ed1073a · queried 2026-10-18 08:06 UTC</a:t>
            </a:r>
          </a:p>
          <a:p>
            <a:r>
              <a:t>f4 · Monthly churn · churn_trend_monthly · main.cs.churn_monthly · statement duckdb-b62d270f92c1 · queried 2026-10-18 08:06 UTC</a:t>
            </a:r>
          </a:p>
          <a:p>
            <a:r>
              <a:t>f1 SQL:</a:t>
            </a:r>
          </a:p>
          <a:p>
            <a:r>
              <a:t>SELECT CASE WHEN SUM(active_start) &lt;&gt; 0 THEN SUM(churned) / SUM(active_start) ELSE NULL END AS churn_rate FROM lake.cs.v_churn_monthly__bob WHERE "month" &gt;= $start_month AND "month" &lt; $end_month</a:t>
            </a:r>
          </a:p>
          <a:p>
            <a:r>
              <a:t>f1 parameters: {"end_month": "2026-10-01", "start_month": "2026-07-01"}</a:t>
            </a:r>
          </a:p>
          <a:p>
            <a:r>
              <a:t>f1 template SHA-256: a897f662afe1919b49268c820e58ea712c28e38f408d7d77465b1debd7053d63</a:t>
            </a:r>
          </a:p>
          <a:p>
            <a:r>
              <a:t>f2 SQL:</a:t>
            </a:r>
          </a:p>
          <a:p>
            <a:r>
              <a:t>SELECT CASE WHEN SUM(mrr_start) &lt;&gt; 0 THEN SUM(mrr_retained) / SUM(mrr_start) ELSE NULL END AS nrr FROM lake.cs.v_revenue_monthly__bob WHERE "month" &gt;= $start_month AND "month" &lt; $end_month</a:t>
            </a:r>
          </a:p>
          <a:p>
            <a:r>
              <a:t>f2 parameters: {"end_month": "2026-10-01", "start_month": "2026-07-01"}</a:t>
            </a:r>
          </a:p>
          <a:p>
            <a:r>
              <a:t>f2 template SHA-256: ec85130488823e6392d012cfb710d63468646785670750d0ae22183c9730561a</a:t>
            </a:r>
          </a:p>
          <a:p>
            <a:r>
              <a:t>f3 SQL:</a:t>
            </a:r>
          </a:p>
          <a:p>
            <a:r>
              <a:t>SELECT SUM(active_start) AS active_subscriptions FROM lake.cs.v_churn_monthly__bob WHERE "month" = $start_month</a:t>
            </a:r>
          </a:p>
          <a:p>
            <a:r>
              <a:t>f3 parameters: {"start_month": "2026-07-01"}</a:t>
            </a:r>
          </a:p>
          <a:p>
            <a:r>
              <a:t>f3 template SHA-256: 0e1eca481a61ce5a487969e9b73097141164bf4d00f5b0c10955808376a6caaf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f4 · Monthly churn · churn_trend_monthly · main.cs.churn_monthly · statement duckdb-b62d270f92c1 · queried 2026-10-18 08:06 UTC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f5 · Weighted monthly churn by segment · churn_by_segment · main.cs.churn_monthly · statement duckdb-43afe7c4cb0c · queried 2026-10-18 08:06 UTC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f5 · Weighted monthly churn by segment · churn_by_segment · main.cs.churn_monthly · statement duckdb-43afe7c4cb0c · queried 2026-10-18 08:06 UTC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No data on this slide.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f1 · Monthly churn (weighted) · churn_rate_quarter · main.cs.churn_monthly · statement duckdb-16075aee0f1b · queried 2026-10-18 08:06 UTC</a:t>
            </a:r>
          </a:p>
          <a:p>
            <a:r>
              <a:t>f2 · Monthly NRR (weighted) · nrr_quarter · main.cs.revenue_monthly · statement duckdb-f532014d0e5c · queried 2026-10-18 08:06 UTC</a:t>
            </a:r>
          </a:p>
          <a:p>
            <a:r>
              <a:t>f3 · Active subscriptions · active_subscriptions · main.cs.churn_monthly · statement duckdb-71763ed1073a · queried 2026-10-18 08:06 UTC</a:t>
            </a:r>
          </a:p>
          <a:p>
            <a:r>
              <a:t>f4 · Monthly churn · churn_trend_monthly · main.cs.churn_monthly · statement duckdb-b62d270f92c1 · queried 2026-10-18 08:06 UTC</a:t>
            </a:r>
          </a:p>
          <a:p>
            <a:r>
              <a:t>f5 · Weighted monthly churn by segment · churn_by_segment · main.cs.churn_monthly · statement duckdb-43afe7c4cb0c · queried 2026-10-18 08:06 UTC</a:t>
            </a:r>
          </a:p>
          <a:p>
            <a:r>
              <a:t>f1 SQL:</a:t>
            </a:r>
          </a:p>
          <a:p>
            <a:r>
              <a:t>SELECT CASE WHEN SUM(active_start) &lt;&gt; 0 THEN SUM(churned) / SUM(active_start) ELSE NULL END AS churn_rate FROM lake.cs.v_churn_monthly__bob WHERE "month" &gt;= $start_month AND "month" &lt; $end_month</a:t>
            </a:r>
          </a:p>
          <a:p>
            <a:r>
              <a:t>f1 parameters: {"end_month": "2026-10-01", "start_month": "2026-07-01"}</a:t>
            </a:r>
          </a:p>
          <a:p>
            <a:r>
              <a:t>f1 template SHA-256: a897f662afe1919b49268c820e58ea712c28e38f408d7d77465b1debd7053d63</a:t>
            </a:r>
          </a:p>
          <a:p>
            <a:r>
              <a:t>f2 SQL:</a:t>
            </a:r>
          </a:p>
          <a:p>
            <a:r>
              <a:t>SELECT CASE WHEN SUM(mrr_start) &lt;&gt; 0 THEN SUM(mrr_retained) / SUM(mrr_start) ELSE NULL END AS nrr FROM lake.cs.v_revenue_monthly__bob WHERE "month" &gt;= $start_month AND "month" &lt; $end_month</a:t>
            </a:r>
          </a:p>
          <a:p>
            <a:r>
              <a:t>f2 parameters: {"end_month": "2026-10-01", "start_month": "2026-07-01"}</a:t>
            </a:r>
          </a:p>
          <a:p>
            <a:r>
              <a:t>f2 template SHA-256: ec85130488823e6392d012cfb710d63468646785670750d0ae22183c9730561a</a:t>
            </a:r>
          </a:p>
          <a:p>
            <a:r>
              <a:t>f3 SQL:</a:t>
            </a:r>
          </a:p>
          <a:p>
            <a:r>
              <a:t>SELECT SUM(active_start) AS active_subscriptions FROM lake.cs.v_churn_monthly__bob WHERE "month" = $start_month</a:t>
            </a:r>
          </a:p>
          <a:p>
            <a:r>
              <a:t>f3 parameters: {"start_month": "2026-07-01"}</a:t>
            </a:r>
          </a:p>
          <a:p>
            <a:r>
              <a:t>f3 template SHA-256: 0e1eca481a61ce5a487969e9b73097141164bf4d00f5b0c10955808376a6caaf</a:t>
            </a:r>
          </a:p>
          <a:p>
            <a:r>
              <a:t>f4 SQL:</a:t>
            </a:r>
          </a:p>
          <a:p>
            <a:r>
              <a:t>SELECT STRFTIME(CAST("month" AS TIMESTAMP), '%Y-%m') AS period, CASE WHEN SUM(active_start) &lt;&gt; 0 THEN SUM(churned) / SUM(active_start) ELSE NULL END AS churn_rate FROM lake.cs.v_churn_monthly__bob WHERE "month" &gt;= $start_month AND "month" &lt; $end_month GROUP BY STRFTIME(CAST("month" AS TIMESTAMP), '%Y-%m') ORDER BY period NULLS FIRST</a:t>
            </a:r>
          </a:p>
          <a:p>
            <a:r>
              <a:t>f4 parameters: {"end_month": "2026-10-01", "start_month": "2026-07-01"}</a:t>
            </a:r>
          </a:p>
          <a:p>
            <a:r>
              <a:t>f4 template SHA-256: a65c9afc5de386b7fa7a0a0e07559acc0c0782b68368b4788443dcc983561b89</a:t>
            </a:r>
          </a:p>
          <a:p>
            <a:r>
              <a:t>f5 SQL:</a:t>
            </a:r>
          </a:p>
          <a:p>
            <a:r>
              <a:t>SELECT segment, CASE WHEN SUM(active_start) &lt;&gt; 0 THEN SUM(churned) / SUM(active_start) ELSE NULL END AS churn_rate FROM lake.cs.v_churn_monthly__bob WHERE "month" &gt;= $start_month AND "month" &lt; $end_month GROUP BY segment ORDER BY segment NULLS FIRST</a:t>
            </a:r>
          </a:p>
          <a:p>
            <a:r>
              <a:t>f5 parameters: {"end_month": "2026-10-01", "start_month": "2026-07-01"}</a:t>
            </a:r>
          </a:p>
          <a:p>
            <a:r>
              <a:t>f5 template SHA-256: 99ee1f03a8e2648a6287d555c03e257b8edeacc38d7f3c16b260ad6e88079e9f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Relationship Id="rId3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2000" cy="1371600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371600"/>
            <a:ext cx="12192000" cy="457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66928" y="320040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F7F7F8"/>
                </a:solidFill>
                <a:latin typeface="Calibri"/>
              </a:rPr>
              <a:t>DeckSmith</a:t>
            </a:r>
          </a:p>
        </p:txBody>
      </p:sp>
      <p:sp>
        <p:nvSpPr>
          <p:cNvPr id="5" name="Rectangle 4"/>
          <p:cNvSpPr/>
          <p:nvPr/>
        </p:nvSpPr>
        <p:spPr>
          <a:xfrm>
            <a:off x="10884408" y="5715000"/>
            <a:ext cx="137160" cy="1371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11085576" y="5715000"/>
            <a:ext cx="137160" cy="13716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11286744" y="5715000"/>
            <a:ext cx="137160" cy="13716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1487912" y="5715000"/>
            <a:ext cx="137160" cy="13716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0884408" y="5916168"/>
            <a:ext cx="137160" cy="13716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1085576" y="5916168"/>
            <a:ext cx="137160" cy="1371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1286744" y="5916168"/>
            <a:ext cx="137160" cy="13716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1487912" y="5916168"/>
            <a:ext cx="137160" cy="13716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0884408" y="6117336"/>
            <a:ext cx="137160" cy="13716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1085576" y="6117336"/>
            <a:ext cx="137160" cy="13716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1286744" y="6117336"/>
            <a:ext cx="137160" cy="13716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1487912" y="6117336"/>
            <a:ext cx="137160" cy="137160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1828800"/>
            <a:ext cx="11058144" cy="164592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800" b="1">
                <a:solidFill>
                  <a:srgbClr val="111113"/>
                </a:solidFill>
                <a:latin typeface="Arial"/>
              </a:rPr>
              <a:t>Customer retention review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3566160"/>
            <a:ext cx="7740700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3F3F46"/>
                </a:solidFill>
                <a:latin typeface="Calibri"/>
              </a:rPr>
              <a:t>Prepared for the board audience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84992" y="6464808"/>
            <a:ext cx="548640" cy="29260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111113"/>
                </a:solidFill>
                <a:latin typeface="Arial"/>
              </a:rPr>
              <a:t>I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1111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2468880"/>
            <a:ext cx="365760" cy="27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66928" y="2743200"/>
            <a:ext cx="8417052" cy="1463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0">
                <a:solidFill>
                  <a:srgbClr val="F7F7F8"/>
                </a:solidFill>
                <a:latin typeface="Arial"/>
              </a:rPr>
              <a:t>The retention picture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4297680"/>
            <a:ext cx="8417052" cy="5486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D4D4D8"/>
                </a:solidFill>
                <a:latin typeface="Calibri"/>
              </a:rPr>
              <a:t>For the board audience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F7F7F8"/>
                </a:solidFill>
                <a:latin typeface="Arial"/>
              </a:rPr>
              <a:t>II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40080"/>
            <a:ext cx="109728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6928" y="347472"/>
            <a:ext cx="108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3"/>
                </a:solidFill>
                <a:latin typeface="Arial"/>
              </a:rPr>
              <a:t>Where retention stands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34440"/>
            <a:ext cx="11058144" cy="27432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3740912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17320"/>
            <a:ext cx="3740912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1554480"/>
            <a:ext cx="3466592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11113"/>
                </a:solidFill>
                <a:latin typeface="Arial"/>
              </a:rPr>
              <a:t>2.4%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04088" y="2286000"/>
            <a:ext cx="346659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F3F46"/>
                </a:solidFill>
                <a:latin typeface="Calibri"/>
              </a:rPr>
              <a:t>Monthly churn (weighted)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704088" y="3154680"/>
            <a:ext cx="1001460" cy="32004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936654" y="3208778"/>
            <a:ext cx="1001460" cy="26594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169220" y="3385109"/>
            <a:ext cx="1001460" cy="89611"/>
          </a:xfrm>
          <a:prstGeom prst="rect">
            <a:avLst/>
          </a:prstGeom>
          <a:solidFill>
            <a:srgbClr val="B4530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04088" y="2788920"/>
            <a:ext cx="3466592" cy="32004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1D4ED8"/>
                </a:solidFill>
                <a:latin typeface="Calibri"/>
              </a:rPr>
              <a:t>Ended lower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07840" y="1417320"/>
            <a:ext cx="3740912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07840" y="1417320"/>
            <a:ext cx="3740912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445000" y="1554480"/>
            <a:ext cx="3466592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11113"/>
                </a:solidFill>
                <a:latin typeface="Arial"/>
              </a:rPr>
              <a:t>99.8%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445000" y="2286000"/>
            <a:ext cx="3466592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F3F46"/>
                </a:solidFill>
                <a:latin typeface="Calibri"/>
              </a:rPr>
              <a:t>Monthly NRR (weighted)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8752" y="1417320"/>
            <a:ext cx="3576320" cy="237744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048752" y="1417320"/>
            <a:ext cx="3576320" cy="3657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185912" y="1554480"/>
            <a:ext cx="3302000" cy="7315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111113"/>
                </a:solidFill>
                <a:latin typeface="Arial"/>
              </a:rPr>
              <a:t>6,172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185912" y="2286000"/>
            <a:ext cx="3302000" cy="4572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3F3F46"/>
                </a:solidFill>
                <a:latin typeface="Calibri"/>
              </a:rPr>
              <a:t>Active subscriptions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3931920"/>
            <a:ext cx="11058144" cy="118872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3931920"/>
            <a:ext cx="54864" cy="11887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41248" y="4023360"/>
            <a:ext cx="10646664" cy="10058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111113"/>
                </a:solidFill>
                <a:latin typeface="Calibri"/>
              </a:rPr>
              <a:t>Weighted monthly churn was 2.4% over the review period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F3F46"/>
                </a:solidFill>
                <a:latin typeface="Calibri"/>
              </a:rPr>
              <a:t>Sources   Monthly churn (weighted)   ·   Monthly NRR (weighted)   ·   Active subscriptions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3"/>
                </a:solidFill>
                <a:latin typeface="Arial"/>
              </a:rPr>
              <a:t>III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40080"/>
            <a:ext cx="109728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6928" y="347472"/>
            <a:ext cx="108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3"/>
                </a:solidFill>
                <a:latin typeface="Arial"/>
              </a:rPr>
              <a:t>Monthly churn ended lower than it started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34440"/>
            <a:ext cx="11058144" cy="27432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58144" cy="47914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04088" y="1691640"/>
          <a:ext cx="10783824" cy="4517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F3F46"/>
                </a:solidFill>
                <a:latin typeface="Calibri"/>
              </a:rPr>
              <a:t>Sources   Monthly churn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3"/>
                </a:solidFill>
                <a:latin typeface="Arial"/>
              </a:rPr>
              <a:t>IV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40080"/>
            <a:ext cx="109728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6928" y="347472"/>
            <a:ext cx="108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3"/>
                </a:solidFill>
                <a:latin typeface="Arial"/>
              </a:rPr>
              <a:t>Churn is highest in SMB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34440"/>
            <a:ext cx="11058144" cy="27432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11058144" cy="479145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6" name="Chart 5"/>
          <p:cNvGraphicFramePr>
            <a:graphicFrameLocks noGrp="1"/>
          </p:cNvGraphicFramePr>
          <p:nvPr/>
        </p:nvGraphicFramePr>
        <p:xfrm>
          <a:off x="704088" y="1691640"/>
          <a:ext cx="10783824" cy="4517136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7" name="Rectangle 6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F3F46"/>
                </a:solidFill>
                <a:latin typeface="Calibri"/>
              </a:rPr>
              <a:t>Sources   Weighted monthly churn by segment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3"/>
                </a:solidFill>
                <a:latin typeface="Arial"/>
              </a:rPr>
              <a:t>V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40080"/>
            <a:ext cx="109728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6928" y="347472"/>
            <a:ext cx="108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3"/>
                </a:solidFill>
                <a:latin typeface="Arial"/>
              </a:rPr>
              <a:t>What this review covers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34440"/>
            <a:ext cx="11058144" cy="27432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66928" y="164592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D4ED8"/>
                </a:solidFill>
                <a:latin typeface="Arial"/>
              </a:rPr>
              <a:t>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89888" y="164592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The headline figures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28600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D4ED8"/>
                </a:solidFill>
                <a:latin typeface="Arial"/>
              </a:rPr>
              <a:t>II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89888" y="228600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The monthly path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292608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D4ED8"/>
                </a:solidFill>
                <a:latin typeface="Arial"/>
              </a:rPr>
              <a:t>III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89888" y="292608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The segment split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3566160"/>
            <a:ext cx="640080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D4ED8"/>
                </a:solidFill>
                <a:latin typeface="Arial"/>
              </a:rPr>
              <a:t>IV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89888" y="3566160"/>
            <a:ext cx="10235184" cy="64008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The sources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3"/>
                </a:solidFill>
                <a:latin typeface="Arial"/>
              </a:rPr>
              <a:t>VI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40080"/>
            <a:ext cx="109728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6928" y="347472"/>
            <a:ext cx="108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3"/>
                </a:solidFill>
                <a:latin typeface="Arial"/>
              </a:rPr>
              <a:t>Two ways to read retention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34440"/>
            <a:ext cx="11058144" cy="27432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2967228"/>
            <a:ext cx="5611368" cy="1874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967228"/>
            <a:ext cx="5611368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04088" y="2967228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F7F8"/>
                </a:solidFill>
                <a:latin typeface="Arial"/>
              </a:rPr>
              <a:t>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44168" y="2967228"/>
            <a:ext cx="4651248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7F7F8"/>
                </a:solidFill>
                <a:latin typeface="Arial"/>
              </a:rPr>
              <a:t>The rate</a:t>
            </a:r>
          </a:p>
        </p:txBody>
      </p:sp>
      <p:sp>
        <p:nvSpPr>
          <p:cNvPr id="9" name="Oval 8"/>
          <p:cNvSpPr/>
          <p:nvPr/>
        </p:nvSpPr>
        <p:spPr>
          <a:xfrm>
            <a:off x="749808" y="3785616"/>
            <a:ext cx="54864" cy="5486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86968" y="3470148"/>
            <a:ext cx="5154168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Weighted monthly churn</a:t>
            </a:r>
          </a:p>
        </p:txBody>
      </p:sp>
      <p:sp>
        <p:nvSpPr>
          <p:cNvPr id="11" name="Oval 10"/>
          <p:cNvSpPr/>
          <p:nvPr/>
        </p:nvSpPr>
        <p:spPr>
          <a:xfrm>
            <a:off x="749808" y="4471416"/>
            <a:ext cx="54864" cy="5486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86968" y="4155948"/>
            <a:ext cx="5154168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Shows who left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78296" y="2967228"/>
            <a:ext cx="5446776" cy="1874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78296" y="2967228"/>
            <a:ext cx="5446776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15456" y="2967228"/>
            <a:ext cx="640080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7F7F8"/>
                </a:solidFill>
                <a:latin typeface="Arial"/>
              </a:rPr>
              <a:t>II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955536" y="2967228"/>
            <a:ext cx="4486656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7F7F8"/>
                </a:solidFill>
                <a:latin typeface="Arial"/>
              </a:rPr>
              <a:t>The base</a:t>
            </a:r>
          </a:p>
        </p:txBody>
      </p:sp>
      <p:sp>
        <p:nvSpPr>
          <p:cNvPr id="17" name="Oval 16"/>
          <p:cNvSpPr/>
          <p:nvPr/>
        </p:nvSpPr>
        <p:spPr>
          <a:xfrm>
            <a:off x="6361176" y="3785616"/>
            <a:ext cx="54864" cy="5486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8336" y="3470148"/>
            <a:ext cx="49895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Active subscriptions</a:t>
            </a:r>
          </a:p>
        </p:txBody>
      </p:sp>
      <p:sp>
        <p:nvSpPr>
          <p:cNvPr id="19" name="Oval 18"/>
          <p:cNvSpPr/>
          <p:nvPr/>
        </p:nvSpPr>
        <p:spPr>
          <a:xfrm>
            <a:off x="6361176" y="4471416"/>
            <a:ext cx="54864" cy="5486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98336" y="4155948"/>
            <a:ext cx="49895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Shows who remains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3"/>
                </a:solidFill>
                <a:latin typeface="Arial"/>
              </a:rPr>
              <a:t>VII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40080"/>
            <a:ext cx="109728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6928" y="347472"/>
            <a:ext cx="108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3"/>
                </a:solidFill>
                <a:latin typeface="Arial"/>
              </a:rPr>
              <a:t>How the review is sequenced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34440"/>
            <a:ext cx="11058144" cy="27432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3035808"/>
            <a:ext cx="11058144" cy="27432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566928" y="2807208"/>
            <a:ext cx="264109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9808" y="2990088"/>
            <a:ext cx="137160" cy="13716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32688" y="2944368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4ED8"/>
                </a:solidFill>
                <a:latin typeface="Arial"/>
              </a:rPr>
              <a:t>I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26948" y="3401568"/>
            <a:ext cx="2321052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3"/>
                </a:solidFill>
                <a:latin typeface="Arial"/>
              </a:rPr>
              <a:t>Headline</a:t>
            </a:r>
          </a:p>
        </p:txBody>
      </p:sp>
      <p:sp>
        <p:nvSpPr>
          <p:cNvPr id="10" name="Rectangle 9"/>
          <p:cNvSpPr/>
          <p:nvPr/>
        </p:nvSpPr>
        <p:spPr>
          <a:xfrm>
            <a:off x="726948" y="4041648"/>
            <a:ext cx="365760" cy="27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26948" y="4133088"/>
            <a:ext cx="2321052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F3F46"/>
                </a:solidFill>
                <a:latin typeface="Calibri"/>
              </a:rPr>
              <a:t>The figures that frame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F3F46"/>
                </a:solidFill>
                <a:latin typeface="Calibri"/>
              </a:rPr>
              <a:t>the review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372612" y="2807208"/>
            <a:ext cx="264109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3555492" y="2990088"/>
            <a:ext cx="137160" cy="13716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738372" y="2944368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4ED8"/>
                </a:solidFill>
                <a:latin typeface="Arial"/>
              </a:rPr>
              <a:t>II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32632" y="3401568"/>
            <a:ext cx="2321052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3"/>
                </a:solidFill>
                <a:latin typeface="Arial"/>
              </a:rPr>
              <a:t>Trend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32632" y="4041648"/>
            <a:ext cx="365760" cy="27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32632" y="4133088"/>
            <a:ext cx="2321052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F3F46"/>
                </a:solidFill>
                <a:latin typeface="Calibri"/>
              </a:rPr>
              <a:t>The monthly path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78296" y="2807208"/>
            <a:ext cx="264109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6361176" y="2990088"/>
            <a:ext cx="137160" cy="13716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44056" y="2944368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4ED8"/>
                </a:solidFill>
                <a:latin typeface="Arial"/>
              </a:rPr>
              <a:t>III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38316" y="3401568"/>
            <a:ext cx="2321052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3"/>
                </a:solidFill>
                <a:latin typeface="Arial"/>
              </a:rPr>
              <a:t>Segments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38316" y="4041648"/>
            <a:ext cx="365760" cy="27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38316" y="4133088"/>
            <a:ext cx="2321052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F3F46"/>
                </a:solidFill>
                <a:latin typeface="Calibri"/>
              </a:rPr>
              <a:t>Where churn sits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983980" y="2807208"/>
            <a:ext cx="2641092" cy="219456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9166860" y="2990088"/>
            <a:ext cx="137160" cy="137160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349740" y="2944368"/>
            <a:ext cx="2138172" cy="41148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1D4ED8"/>
                </a:solidFill>
                <a:latin typeface="Arial"/>
              </a:rPr>
              <a:t>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144000" y="3401568"/>
            <a:ext cx="2321052" cy="54864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111113"/>
                </a:solidFill>
                <a:latin typeface="Arial"/>
              </a:rPr>
              <a:t>Sources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144000" y="4041648"/>
            <a:ext cx="365760" cy="27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144000" y="4133088"/>
            <a:ext cx="2321052" cy="68580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F3F46"/>
                </a:solidFill>
                <a:latin typeface="Calibri"/>
              </a:rPr>
              <a:t>How to trace a figure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3"/>
                </a:solidFill>
                <a:latin typeface="Arial"/>
              </a:rPr>
              <a:t>VIII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40080"/>
            <a:ext cx="109728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6928" y="347472"/>
            <a:ext cx="108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3"/>
                </a:solidFill>
                <a:latin typeface="Arial"/>
              </a:rPr>
              <a:t>The point of the review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34440"/>
            <a:ext cx="11058144" cy="27432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63040"/>
            <a:ext cx="11058144" cy="488289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1463040"/>
            <a:ext cx="91440" cy="4882896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41248" y="1554480"/>
            <a:ext cx="91440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6000" b="0">
                <a:solidFill>
                  <a:srgbClr val="1D4ED8"/>
                </a:solidFill>
                <a:latin typeface="Arial"/>
              </a:rPr>
              <a:t>“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86968" y="2377440"/>
            <a:ext cx="10418064" cy="2441448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3200" b="0">
                <a:solidFill>
                  <a:srgbClr val="111113"/>
                </a:solidFill>
                <a:latin typeface="Arial"/>
              </a:rPr>
              <a:t>A retention review is a story about who stays.</a:t>
            </a:r>
          </a:p>
        </p:txBody>
      </p:sp>
      <p:sp>
        <p:nvSpPr>
          <p:cNvPr id="9" name="Rectangle 8"/>
          <p:cNvSpPr/>
          <p:nvPr/>
        </p:nvSpPr>
        <p:spPr>
          <a:xfrm>
            <a:off x="886968" y="5705856"/>
            <a:ext cx="365760" cy="27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44168" y="5614416"/>
            <a:ext cx="9960864" cy="3657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3F3F46"/>
                </a:solidFill>
                <a:latin typeface="Calibri"/>
              </a:rPr>
              <a:t>Review note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3"/>
                </a:solidFill>
                <a:latin typeface="Arial"/>
              </a:rPr>
              <a:t>IX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40080"/>
            <a:ext cx="109728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6928" y="347472"/>
            <a:ext cx="108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3"/>
                </a:solidFill>
                <a:latin typeface="Arial"/>
              </a:rPr>
              <a:t>The story in two parts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34440"/>
            <a:ext cx="11058144" cy="27432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2967228"/>
            <a:ext cx="5611368" cy="1874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967228"/>
            <a:ext cx="5611368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967228"/>
            <a:ext cx="5245608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7F7F8"/>
                </a:solidFill>
                <a:latin typeface="Arial"/>
              </a:rPr>
              <a:t>The path</a:t>
            </a:r>
          </a:p>
        </p:txBody>
      </p:sp>
      <p:sp>
        <p:nvSpPr>
          <p:cNvPr id="8" name="Oval 7"/>
          <p:cNvSpPr/>
          <p:nvPr/>
        </p:nvSpPr>
        <p:spPr>
          <a:xfrm>
            <a:off x="749808" y="3785616"/>
            <a:ext cx="54864" cy="5486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86968" y="3470148"/>
            <a:ext cx="5154168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The monthly path shows the shape</a:t>
            </a:r>
          </a:p>
        </p:txBody>
      </p:sp>
      <p:sp>
        <p:nvSpPr>
          <p:cNvPr id="10" name="Oval 9"/>
          <p:cNvSpPr/>
          <p:nvPr/>
        </p:nvSpPr>
        <p:spPr>
          <a:xfrm>
            <a:off x="749808" y="4471416"/>
            <a:ext cx="54864" cy="5486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86968" y="4155948"/>
            <a:ext cx="5154168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The segment split shows where it sits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78296" y="2967228"/>
            <a:ext cx="5446776" cy="18745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78296" y="2967228"/>
            <a:ext cx="5446776" cy="5029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1176" y="2967228"/>
            <a:ext cx="5081016" cy="5029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F7F7F8"/>
                </a:solidFill>
                <a:latin typeface="Arial"/>
              </a:rPr>
              <a:t>The split</a:t>
            </a:r>
          </a:p>
        </p:txBody>
      </p:sp>
      <p:sp>
        <p:nvSpPr>
          <p:cNvPr id="15" name="Oval 14"/>
          <p:cNvSpPr/>
          <p:nvPr/>
        </p:nvSpPr>
        <p:spPr>
          <a:xfrm>
            <a:off x="6361176" y="3785616"/>
            <a:ext cx="54864" cy="5486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98336" y="3470148"/>
            <a:ext cx="49895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The headline figures frame both</a:t>
            </a:r>
          </a:p>
        </p:txBody>
      </p:sp>
      <p:sp>
        <p:nvSpPr>
          <p:cNvPr id="17" name="Oval 16"/>
          <p:cNvSpPr/>
          <p:nvPr/>
        </p:nvSpPr>
        <p:spPr>
          <a:xfrm>
            <a:off x="6361176" y="4471416"/>
            <a:ext cx="54864" cy="54864"/>
          </a:xfrm>
          <a:prstGeom prst="ellipse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8336" y="4155948"/>
            <a:ext cx="4989576" cy="68580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11113"/>
                </a:solidFill>
                <a:latin typeface="Calibri"/>
              </a:rPr>
              <a:t>The sources trace every figure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3"/>
                </a:solidFill>
                <a:latin typeface="Arial"/>
              </a:rPr>
              <a:t>X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40080"/>
            <a:ext cx="109728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6928" y="347472"/>
            <a:ext cx="108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3"/>
                </a:solidFill>
                <a:latin typeface="Arial"/>
              </a:rPr>
              <a:t>Churn is highest in SMB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34440"/>
            <a:ext cx="11058144" cy="27432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1463040"/>
            <a:ext cx="11058144" cy="1220724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58368" y="1463040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7F7F8"/>
                </a:solidFill>
                <a:latin typeface="Calibri"/>
              </a:rPr>
              <a:t>Segment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63208" y="1463040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7F7F8"/>
                </a:solidFill>
                <a:latin typeface="Calibri"/>
              </a:rPr>
              <a:t>Weighted churn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683764"/>
            <a:ext cx="11058144" cy="12207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58368" y="2683764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11113"/>
                </a:solidFill>
                <a:latin typeface="Calibri"/>
              </a:rPr>
              <a:t>Enterprise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63208" y="2683764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3"/>
                </a:solidFill>
                <a:latin typeface="Arial"/>
              </a:rPr>
              <a:t>0.5%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3904488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11113"/>
                </a:solidFill>
                <a:latin typeface="Calibri"/>
              </a:rPr>
              <a:t>Mid-market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663208" y="3904488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3"/>
                </a:solidFill>
                <a:latin typeface="Arial"/>
              </a:rPr>
              <a:t>1.7%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5125212"/>
            <a:ext cx="11058144" cy="1220724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58368" y="5125212"/>
            <a:ext cx="2959120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111113"/>
                </a:solidFill>
                <a:latin typeface="Calibri"/>
              </a:rPr>
              <a:t>SMB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663208" y="5125212"/>
            <a:ext cx="7870424" cy="1220724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11113"/>
                </a:solidFill>
                <a:latin typeface="Arial"/>
              </a:rPr>
              <a:t>3.2%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66928" y="6501384"/>
            <a:ext cx="10253472" cy="274320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3F3F46"/>
                </a:solidFill>
                <a:latin typeface="Calibri"/>
              </a:rPr>
              <a:t>Sources   Weighted monthly churn by segment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3"/>
                </a:solidFill>
                <a:latin typeface="Arial"/>
              </a:rPr>
              <a:t>XI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40080"/>
            <a:ext cx="109728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6928" y="347472"/>
            <a:ext cx="108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3"/>
                </a:solidFill>
                <a:latin typeface="Arial"/>
              </a:rPr>
              <a:t>Three readings of retention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34440"/>
            <a:ext cx="11058144" cy="27432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2852928"/>
            <a:ext cx="3740912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566928" y="2852928"/>
            <a:ext cx="3740912" cy="457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49808" y="2990088"/>
            <a:ext cx="337515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4ED8"/>
                </a:solidFill>
                <a:latin typeface="Arial"/>
              </a:rPr>
              <a:t>I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3904488"/>
            <a:ext cx="457200" cy="27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3995928"/>
            <a:ext cx="337515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11113"/>
                </a:solidFill>
                <a:latin typeface="Calibri"/>
              </a:rPr>
              <a:t>The headline figures frame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11113"/>
                </a:solidFill>
                <a:latin typeface="Calibri"/>
              </a:rPr>
              <a:t>the review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07840" y="2852928"/>
            <a:ext cx="3740912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307840" y="2852928"/>
            <a:ext cx="3740912" cy="457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490720" y="2990088"/>
            <a:ext cx="337515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4ED8"/>
                </a:solidFill>
                <a:latin typeface="Arial"/>
              </a:rPr>
              <a:t>II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0720" y="3904488"/>
            <a:ext cx="457200" cy="27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90720" y="3995928"/>
            <a:ext cx="3375152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11113"/>
                </a:solidFill>
                <a:latin typeface="Calibri"/>
              </a:rPr>
              <a:t>The monthly path shows the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11113"/>
                </a:solidFill>
                <a:latin typeface="Calibri"/>
              </a:rPr>
              <a:t>direction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48752" y="2852928"/>
            <a:ext cx="3576320" cy="21031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48752" y="2852928"/>
            <a:ext cx="3576320" cy="45720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231632" y="2990088"/>
            <a:ext cx="32105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1D4ED8"/>
                </a:solidFill>
                <a:latin typeface="Arial"/>
              </a:rPr>
              <a:t>III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31632" y="3904488"/>
            <a:ext cx="457200" cy="27432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31632" y="3995928"/>
            <a:ext cx="3210560" cy="822960"/>
          </a:xfrm>
          <a:prstGeom prst="rect">
            <a:avLst/>
          </a:prstGeom>
          <a:noFill/>
        </p:spPr>
        <p:txBody>
          <a:bodyPr wrap="square" lIns="0" rIns="0" tIns="0" bIns="0" anchor="t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11113"/>
                </a:solidFill>
                <a:latin typeface="Calibri"/>
              </a:rPr>
              <a:t>The segment split shows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111113"/>
                </a:solidFill>
                <a:latin typeface="Calibri"/>
              </a:rPr>
              <a:t>where it sits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3"/>
                </a:solidFill>
                <a:latin typeface="Arial"/>
              </a:rPr>
              <a:t>XII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66928" y="640080"/>
            <a:ext cx="109728" cy="109728"/>
          </a:xfrm>
          <a:prstGeom prst="rect">
            <a:avLst/>
          </a:prstGeom>
          <a:solidFill>
            <a:srgbClr val="1D4E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66928" y="347472"/>
            <a:ext cx="10858144" cy="841248"/>
          </a:xfrm>
          <a:prstGeom prst="rect">
            <a:avLst/>
          </a:prstGeom>
          <a:noFill/>
        </p:spPr>
        <p:txBody>
          <a:bodyPr wrap="square" lIns="0" rIns="0" tIns="0" bIns="0" anchor="b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11113"/>
                </a:solidFill>
                <a:latin typeface="Arial"/>
              </a:rPr>
              <a:t>Sources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234440"/>
            <a:ext cx="11058144" cy="27432"/>
          </a:xfrm>
          <a:prstGeom prst="rect">
            <a:avLst/>
          </a:prstGeom>
          <a:solidFill>
            <a:srgbClr val="11111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66928" y="23225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66928" y="160020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D4ED8"/>
                </a:solidFill>
                <a:latin typeface="Arial"/>
              </a:rPr>
              <a:t>f1 ·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72768" y="160020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113"/>
                </a:solidFill>
                <a:latin typeface="Calibri"/>
              </a:rPr>
              <a:t>Monthly churn (weighted)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553699" y="160020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F3F46"/>
                </a:solidFill>
                <a:latin typeface="Calibri"/>
              </a:rPr>
              <a:t>churn_rate_quarter    main.cs.churn_monthly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305409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66928" y="233172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D4ED8"/>
                </a:solidFill>
                <a:latin typeface="Arial"/>
              </a:rPr>
              <a:t>f2 ·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72768" y="233172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113"/>
                </a:solidFill>
                <a:latin typeface="Calibri"/>
              </a:rPr>
              <a:t>Monthly NRR (weighted)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553699" y="233172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F3F46"/>
                </a:solidFill>
                <a:latin typeface="Calibri"/>
              </a:rPr>
              <a:t>nrr_quarter    main.cs.revenue_monthly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78561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66928" y="306324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D4ED8"/>
                </a:solidFill>
                <a:latin typeface="Arial"/>
              </a:rPr>
              <a:t>f3 ·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72768" y="306324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113"/>
                </a:solidFill>
                <a:latin typeface="Calibri"/>
              </a:rPr>
              <a:t>Active subscriptions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553699" y="306324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F3F46"/>
                </a:solidFill>
                <a:latin typeface="Calibri"/>
              </a:rPr>
              <a:t>active_subscriptions    main.cs.churn_monthly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66928" y="451713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66928" y="379476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D4ED8"/>
                </a:solidFill>
                <a:latin typeface="Arial"/>
              </a:rPr>
              <a:t>f4 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572768" y="379476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113"/>
                </a:solidFill>
                <a:latin typeface="Calibri"/>
              </a:rPr>
              <a:t>Monthly churn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53699" y="379476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F3F46"/>
                </a:solidFill>
                <a:latin typeface="Calibri"/>
              </a:rPr>
              <a:t>churn_trend_monthly    main.cs.churn_monthly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524865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6928" y="4526280"/>
            <a:ext cx="914400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D4ED8"/>
                </a:solidFill>
                <a:latin typeface="Arial"/>
              </a:rPr>
              <a:t>f5 ·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72768" y="4526280"/>
            <a:ext cx="3980931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111113"/>
                </a:solidFill>
                <a:latin typeface="Calibri"/>
              </a:rPr>
              <a:t>Weighted monthly churn by segment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553699" y="4526280"/>
            <a:ext cx="6071373" cy="70408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3F3F46"/>
                </a:solidFill>
                <a:latin typeface="Calibri"/>
              </a:rPr>
              <a:t>churn_by_segment    main.cs.churn_monthly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6437376"/>
            <a:ext cx="11058144" cy="9144"/>
          </a:xfrm>
          <a:prstGeom prst="rect">
            <a:avLst/>
          </a:prstGeom>
          <a:solidFill>
            <a:srgbClr val="E4E4E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984992" y="6483096"/>
            <a:ext cx="640080" cy="292608"/>
          </a:xfrm>
          <a:prstGeom prst="rect">
            <a:avLst/>
          </a:prstGeom>
          <a:noFill/>
        </p:spPr>
        <p:txBody>
          <a:bodyPr wrap="square" lIns="0" rIns="0" tIns="0" bIns="0" anchor="ctr"/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111113"/>
                </a:solidFill>
                <a:latin typeface="Arial"/>
              </a:rPr>
              <a:t>XIII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Customer retention review</dc:title>
  <dc:subject>run_id=d0b2fbb3f13e4757884890a06d84b686</dc:subject>
  <dc:creator>DeckSmith</dc:creator>
  <cp:keywords>corp_default@1.0</cp:keywords>
  <dc:description>generated using python-pptx</dc:description>
  <cp:lastModifiedBy>Steve Canny</cp:lastModifiedBy>
  <cp:revision>1</cp:revision>
  <dcterms:created xsi:type="dcterms:W3CDTF">2026-01-01T00:00:00Z</dcterms:created>
  <dcterms:modified xsi:type="dcterms:W3CDTF">2026-01-01T00:00:00Z</dcterms:modified>
  <cp:category>graphite</cp:category>
</cp:coreProperties>
</file>