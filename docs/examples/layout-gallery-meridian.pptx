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churn</c:v>
                </c:pt>
              </c:strCache>
            </c:strRef>
          </c:tx>
          <c:spPr>
            <a:ln w="28575">
              <a:solidFill>
                <a:srgbClr val="1A3144"/>
              </a:solidFill>
            </a:ln>
          </c:spPr>
          <c:marker>
            <c:symbol val="circle"/>
            <c:size val="8"/>
            <c:spPr>
              <a:solidFill>
                <a:srgbClr val="1A3144"/>
              </a:solidFill>
              <a:ln>
                <a:noFill/>
              </a:ln>
            </c:spPr>
          </c:marker>
          <c:dPt>
            <c:idx val="0"/>
            <c:marker>
              <c:spPr>
                <a:solidFill>
                  <a:srgbClr val="1A3144"/>
                </a:solidFill>
                <a:ln>
                  <a:noFill/>
                </a:ln>
              </c:spPr>
            </c:marker>
          </c:dPt>
          <c:dPt>
            <c:idx val="1"/>
            <c:marker>
              <c:spPr>
                <a:solidFill>
                  <a:srgbClr val="1A3144"/>
                </a:solidFill>
                <a:ln>
                  <a:noFill/>
                </a:ln>
              </c:spPr>
            </c:marker>
          </c:dPt>
          <c:dPt>
            <c:idx val="2"/>
            <c:marker>
              <c:spPr>
                <a:solidFill>
                  <a:srgbClr val="9C4221"/>
                </a:solidFill>
                <a:ln>
                  <a:noFill/>
                </a:ln>
              </c:spPr>
            </c:marke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C1915"/>
                      </a:solidFill>
                      <a:latin typeface="Calibri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C191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9C4221"/>
                      </a:solidFill>
                      <a:latin typeface="Calibri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0.024465327284510695</c:v>
                </c:pt>
                <c:pt idx="1">
                  <c:v>0.023969319271332695</c:v>
                </c:pt>
                <c:pt idx="2">
                  <c:v>0.022352568167406467</c:v>
                </c:pt>
              </c:numCache>
            </c:numRef>
          </c:val>
          <c:smooth val="0"/>
        </c:ser>
        <c:dLbls>
          <c:numFmt formatCode="0.0%" sourceLinked="0"/>
          <c:txPr>
            <a:bodyPr/>
            <a:lstStyle/>
            <a:p>
              <a:pPr>
                <a:defRPr sz="1100">
                  <a:solidFill>
                    <a:srgbClr val="1C1915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DCD0"/>
            </a:solidFill>
          </a:ln>
        </c:spPr>
        <c:txPr>
          <a:bodyPr/>
          <a:lstStyle/>
          <a:p>
            <a:pPr>
              <a:defRPr sz="1200">
                <a:solidFill>
                  <a:srgbClr val="1C1915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025838620710628445"/>
          <c:min val="0.02055672291786787"/>
        </c:scaling>
        <c:delete/>
        <c:axPos val="l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monthly churn by segment</c:v>
                </c:pt>
              </c:strCache>
            </c:strRef>
          </c:tx>
          <c:spPr>
            <a:solidFill>
              <a:srgbClr val="1A3144"/>
            </a:solidFill>
            <a:ln>
              <a:noFill/>
            </a:ln>
          </c:spPr>
          <c:dPt>
            <c:idx val="0"/>
            <c:spPr>
              <a:solidFill>
                <a:srgbClr val="1A3144"/>
              </a:solidFill>
              <a:ln>
                <a:noFill/>
              </a:ln>
            </c:spPr>
          </c:dPt>
          <c:dPt>
            <c:idx val="1"/>
            <c:spPr>
              <a:solidFill>
                <a:srgbClr val="1A3144"/>
              </a:solidFill>
              <a:ln>
                <a:noFill/>
              </a:ln>
            </c:spPr>
          </c:dPt>
          <c:dPt>
            <c:idx val="2"/>
            <c:spPr>
              <a:solidFill>
                <a:srgbClr val="9C4221"/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C191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C191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9C4221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0.005371530886302597</c:v>
                </c:pt>
                <c:pt idx="1">
                  <c:v>0.01675257731958763</c:v>
                </c:pt>
                <c:pt idx="2">
                  <c:v>0.031662781662781664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>
                  <a:solidFill>
                    <a:srgbClr val="1C1915"/>
                  </a:solidFill>
                  <a:latin typeface="Calibri"/>
                </a:defRPr>
              </a:pPr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3DCD0"/>
            </a:solidFill>
          </a:ln>
        </c:spPr>
        <c:txPr>
          <a:bodyPr/>
          <a:lstStyle/>
          <a:p>
            <a:pPr>
              <a:defRPr sz="1200">
                <a:solidFill>
                  <a:srgbClr val="1C191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052836052836053"/>
          <c:min val="0.0"/>
        </c:scaling>
        <c:delete/>
        <c:axPos val="b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· Monthly churn (weighted) · churn_rate_quarter · main.cs.churn_monthly · statement duckdb-78e337f4c5c5 · queried 2026-10-18 07:47 UTC</a:t>
            </a:r>
          </a:p>
          <a:p>
            <a:r>
              <a:t>f2 · Monthly NRR (weighted) · nrr_quarter · main.cs.revenue_monthly · statement duckdb-2938fb8825c7 · queried 2026-10-18 07:47 UTC</a:t>
            </a:r>
          </a:p>
          <a:p>
            <a:r>
              <a:t>f3 · Active subscriptions · active_subscriptions · main.cs.churn_monthly · statement duckdb-a55fc3485a29 · queried 2026-10-18 07:47 UTC</a:t>
            </a:r>
          </a:p>
          <a:p>
            <a:r>
              <a:t>f4 · Monthly churn · churn_trend_monthly · main.cs.churn_monthly · statement duckdb-d382d6a384b4 · queried 2026-10-18 07:47 UTC</a:t>
            </a:r>
          </a:p>
          <a:p>
            <a:r>
              <a:t>f1 SQL:</a:t>
            </a:r>
          </a:p>
          <a:p>
            <a:r>
              <a:t>SELECT CASE WHEN SUM(active_start) &lt;&gt; 0 THEN SUM(churned) / SUM(active_start) ELSE NULL END AS churn_rate FROM lake.cs.v_churn_monthly__bob WHERE "month" &gt;= $start_month AND "month" &lt; $end_month</a:t>
            </a:r>
          </a:p>
          <a:p>
            <a:r>
              <a:t>f1 parameters: {"end_month": "2026-10-01", "start_month": "2026-07-01"}</a:t>
            </a:r>
          </a:p>
          <a:p>
            <a:r>
              <a:t>f1 template SHA-256: a897f662afe1919b49268c820e58ea712c28e38f408d7d77465b1debd7053d63</a:t>
            </a:r>
          </a:p>
          <a:p>
            <a:r>
              <a:t>f2 SQL:</a:t>
            </a:r>
          </a:p>
          <a:p>
            <a:r>
              <a:t>SELECT CASE WHEN SUM(mrr_start) &lt;&gt; 0 THEN SUM(mrr_retained) / SUM(mrr_start) ELSE NULL END AS nrr FROM lake.cs.v_revenue_monthly__bob WHERE "month" &gt;= $start_month AND "month" &lt; $end_month</a:t>
            </a:r>
          </a:p>
          <a:p>
            <a:r>
              <a:t>f2 parameters: {"end_month": "2026-10-01", "start_month": "2026-07-01"}</a:t>
            </a:r>
          </a:p>
          <a:p>
            <a:r>
              <a:t>f2 template SHA-256: ec85130488823e6392d012cfb710d63468646785670750d0ae22183c9730561a</a:t>
            </a:r>
          </a:p>
          <a:p>
            <a:r>
              <a:t>f3 SQL:</a:t>
            </a:r>
          </a:p>
          <a:p>
            <a:r>
              <a:t>SELECT SUM(active_start) AS active_subscriptions FROM lake.cs.v_churn_monthly__bob WHERE "month" = $start_month</a:t>
            </a:r>
          </a:p>
          <a:p>
            <a:r>
              <a:t>f3 parameters: {"start_month": "2026-07-01"}</a:t>
            </a:r>
          </a:p>
          <a:p>
            <a:r>
              <a:t>f3 template SHA-256: 0e1eca481a61ce5a487969e9b73097141164bf4d00f5b0c10955808376a6caaf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f4 · Monthly churn · churn_trend_monthly · main.cs.churn_monthly · statement duckdb-d382d6a384b4 · queried 2026-10-18 07:47 UTC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f5 · Weighted monthly churn by segment · churn_by_segment · main.cs.churn_monthly · statement duckdb-08de89a37eb8 · queried 2026-10-18 07:47 UTC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f5 · Weighted monthly churn by segment · churn_by_segment · main.cs.churn_monthly · statement duckdb-08de89a37eb8 · queried 2026-10-18 07:47 UTC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· Monthly churn (weighted) · churn_rate_quarter · main.cs.churn_monthly · statement duckdb-78e337f4c5c5 · queried 2026-10-18 07:47 UTC</a:t>
            </a:r>
          </a:p>
          <a:p>
            <a:r>
              <a:t>f2 · Monthly NRR (weighted) · nrr_quarter · main.cs.revenue_monthly · statement duckdb-2938fb8825c7 · queried 2026-10-18 07:47 UTC</a:t>
            </a:r>
          </a:p>
          <a:p>
            <a:r>
              <a:t>f3 · Active subscriptions · active_subscriptions · main.cs.churn_monthly · statement duckdb-a55fc3485a29 · queried 2026-10-18 07:47 UTC</a:t>
            </a:r>
          </a:p>
          <a:p>
            <a:r>
              <a:t>f4 · Monthly churn · churn_trend_monthly · main.cs.churn_monthly · statement duckdb-d382d6a384b4 · queried 2026-10-18 07:47 UTC</a:t>
            </a:r>
          </a:p>
          <a:p>
            <a:r>
              <a:t>f5 · Weighted monthly churn by segment · churn_by_segment · main.cs.churn_monthly · statement duckdb-08de89a37eb8 · queried 2026-10-18 07:47 UTC</a:t>
            </a:r>
          </a:p>
          <a:p>
            <a:r>
              <a:t>f1 SQL:</a:t>
            </a:r>
          </a:p>
          <a:p>
            <a:r>
              <a:t>SELECT CASE WHEN SUM(active_start) &lt;&gt; 0 THEN SUM(churned) / SUM(active_start) ELSE NULL END AS churn_rate FROM lake.cs.v_churn_monthly__bob WHERE "month" &gt;= $start_month AND "month" &lt; $end_month</a:t>
            </a:r>
          </a:p>
          <a:p>
            <a:r>
              <a:t>f1 parameters: {"end_month": "2026-10-01", "start_month": "2026-07-01"}</a:t>
            </a:r>
          </a:p>
          <a:p>
            <a:r>
              <a:t>f1 template SHA-256: a897f662afe1919b49268c820e58ea712c28e38f408d7d77465b1debd7053d63</a:t>
            </a:r>
          </a:p>
          <a:p>
            <a:r>
              <a:t>f2 SQL:</a:t>
            </a:r>
          </a:p>
          <a:p>
            <a:r>
              <a:t>SELECT CASE WHEN SUM(mrr_start) &lt;&gt; 0 THEN SUM(mrr_retained) / SUM(mrr_start) ELSE NULL END AS nrr FROM lake.cs.v_revenue_monthly__bob WHERE "month" &gt;= $start_month AND "month" &lt; $end_month</a:t>
            </a:r>
          </a:p>
          <a:p>
            <a:r>
              <a:t>f2 parameters: {"end_month": "2026-10-01", "start_month": "2026-07-01"}</a:t>
            </a:r>
          </a:p>
          <a:p>
            <a:r>
              <a:t>f2 template SHA-256: ec85130488823e6392d012cfb710d63468646785670750d0ae22183c9730561a</a:t>
            </a:r>
          </a:p>
          <a:p>
            <a:r>
              <a:t>f3 SQL:</a:t>
            </a:r>
          </a:p>
          <a:p>
            <a:r>
              <a:t>SELECT SUM(active_start) AS active_subscriptions FROM lake.cs.v_churn_monthly__bob WHERE "month" = $start_month</a:t>
            </a:r>
          </a:p>
          <a:p>
            <a:r>
              <a:t>f3 parameters: {"start_month": "2026-07-01"}</a:t>
            </a:r>
          </a:p>
          <a:p>
            <a:r>
              <a:t>f3 template SHA-256: 0e1eca481a61ce5a487969e9b73097141164bf4d00f5b0c10955808376a6caaf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1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27520" y="0"/>
            <a:ext cx="5364480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81800" y="0"/>
            <a:ext cx="45720" cy="685800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67600" y="5824728"/>
            <a:ext cx="457200" cy="57607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79664" y="5479085"/>
            <a:ext cx="457200" cy="921715"/>
          </a:xfrm>
          <a:prstGeom prst="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91728" y="5914340"/>
            <a:ext cx="457200" cy="486460"/>
          </a:xfrm>
          <a:prstGeom prst="rect">
            <a:avLst/>
          </a:prstGeom>
          <a:solidFill>
            <a:srgbClr val="3E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3792" y="5248656"/>
            <a:ext cx="457200" cy="1152144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15856" y="5658308"/>
            <a:ext cx="457200" cy="742492"/>
          </a:xfrm>
          <a:prstGeom prst="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27920" y="5376672"/>
            <a:ext cx="457200" cy="1024128"/>
          </a:xfrm>
          <a:prstGeom prst="rect">
            <a:avLst/>
          </a:prstGeom>
          <a:solidFill>
            <a:srgbClr val="3E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20240"/>
            <a:ext cx="6077712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4F0E8"/>
                </a:solidFill>
                <a:latin typeface="Georgia"/>
              </a:rPr>
              <a:t>Customer retention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4F0E8"/>
                </a:solidFill>
                <a:latin typeface="Georgia"/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23360"/>
            <a:ext cx="607771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5D0D6"/>
                </a:solidFill>
                <a:latin typeface="Calibri"/>
              </a:rPr>
              <a:t>Prepared for the board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648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0D6"/>
                </a:solidFill>
                <a:latin typeface="Calibri"/>
              </a:rPr>
              <a:t>DeckSmith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0512" y="646480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4F0E8"/>
                </a:solidFill>
                <a:latin typeface="Georgia"/>
              </a:rPr>
              <a:t>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1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46888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0"/>
            <a:ext cx="8417052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4F0E8"/>
                </a:solidFill>
                <a:latin typeface="Georgia"/>
              </a:rPr>
              <a:t>The retention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0"/>
            <a:ext cx="841705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5D0D6"/>
                </a:solidFill>
                <a:latin typeface="Calibri"/>
              </a:rPr>
              <a:t>For the board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4F0E8"/>
                </a:solidFill>
                <a:latin typeface="Georgia"/>
              </a:rPr>
              <a:t>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Where retention stands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3740912" cy="2377440"/>
          </a:xfrm>
          <a:prstGeom prst="roundRect">
            <a:avLst>
              <a:gd name="adj" fmla="val 8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3740912" cy="36576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466592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C1915"/>
                </a:solidFill>
                <a:latin typeface="Georgia"/>
              </a:rPr>
              <a:t>2.4%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286000"/>
            <a:ext cx="346659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4C"/>
                </a:solidFill>
                <a:latin typeface="Calibri"/>
              </a:rPr>
              <a:t>Monthly churn (weighted)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3154680"/>
            <a:ext cx="1001460" cy="32004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36654" y="3208778"/>
            <a:ext cx="1001460" cy="26594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69220" y="3385109"/>
            <a:ext cx="1001460" cy="89611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788920"/>
            <a:ext cx="346659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C4221"/>
                </a:solidFill>
                <a:latin typeface="Calibri"/>
              </a:rPr>
              <a:t>Ended lower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840" y="1417320"/>
            <a:ext cx="3740912" cy="2377440"/>
          </a:xfrm>
          <a:prstGeom prst="roundRect">
            <a:avLst>
              <a:gd name="adj" fmla="val 8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7840" y="1417320"/>
            <a:ext cx="3740912" cy="36576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5000" y="1554480"/>
            <a:ext cx="3466592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C1915"/>
                </a:solidFill>
                <a:latin typeface="Georgia"/>
              </a:rPr>
              <a:t>99.8%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5000" y="2286000"/>
            <a:ext cx="346659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4C"/>
                </a:solidFill>
                <a:latin typeface="Calibri"/>
              </a:rPr>
              <a:t>Monthly NRR (weighted)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8752" y="1417320"/>
            <a:ext cx="3576320" cy="2377440"/>
          </a:xfrm>
          <a:prstGeom prst="roundRect">
            <a:avLst>
              <a:gd name="adj" fmla="val 8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8752" y="1417320"/>
            <a:ext cx="3576320" cy="36576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5912" y="1554480"/>
            <a:ext cx="330200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C1915"/>
                </a:solidFill>
                <a:latin typeface="Georgia"/>
              </a:rPr>
              <a:t>6,172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5912" y="2286000"/>
            <a:ext cx="3302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4C"/>
                </a:solidFill>
                <a:latin typeface="Calibri"/>
              </a:rPr>
              <a:t>Active subscriptions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931920"/>
            <a:ext cx="11058144" cy="1188720"/>
          </a:xfrm>
          <a:prstGeom prst="roundRect">
            <a:avLst>
              <a:gd name="adj" fmla="val 8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931920"/>
            <a:ext cx="54864" cy="118872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023360"/>
            <a:ext cx="10646664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915"/>
                </a:solidFill>
                <a:latin typeface="Calibri"/>
              </a:rPr>
              <a:t>Weighted monthly churn was 2.4% over the review period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64C"/>
                </a:solidFill>
                <a:latin typeface="Calibri"/>
              </a:rPr>
              <a:t>Sources   Monthly churn (weighted)   ·   Monthly NRR (weighted)   ·   Active subscriptions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III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Monthly churn ended lower than it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11058144" cy="4791456"/>
          </a:xfrm>
          <a:prstGeom prst="roundRect">
            <a:avLst>
              <a:gd name="adj" fmla="val 4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04088" y="1691640"/>
          <a:ext cx="10783824" cy="4517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64C"/>
                </a:solidFill>
                <a:latin typeface="Calibri"/>
              </a:rPr>
              <a:t>Sources   Monthly churn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IV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Churn is highest in SMB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11058144" cy="4791456"/>
          </a:xfrm>
          <a:prstGeom prst="roundRect">
            <a:avLst>
              <a:gd name="adj" fmla="val 4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04088" y="1691640"/>
          <a:ext cx="10783824" cy="4517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64C"/>
                </a:solidFill>
                <a:latin typeface="Calibri"/>
              </a:rPr>
              <a:t>Sources   Weighted monthly churn by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What this review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C4221"/>
                </a:solidFill>
                <a:latin typeface="Georgia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164592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The headline figures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C4221"/>
                </a:solidFill>
                <a:latin typeface="Georgia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228600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The monthly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26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C4221"/>
                </a:solidFill>
                <a:latin typeface="Georgia"/>
              </a:rPr>
              <a:t>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92608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The segment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66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C4221"/>
                </a:solidFill>
                <a:latin typeface="Georgia"/>
              </a:rPr>
              <a:t>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356616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The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VI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Two ways to read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63040"/>
            <a:ext cx="5611368" cy="4882896"/>
          </a:xfrm>
          <a:prstGeom prst="roundRect">
            <a:avLst>
              <a:gd name="adj" fmla="val 5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5611368" cy="64008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63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4F0E8"/>
                </a:solidFill>
                <a:latin typeface="Georgia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463040"/>
            <a:ext cx="4651248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0E8"/>
                </a:solidFill>
                <a:latin typeface="Georgia"/>
              </a:rPr>
              <a:t>The rate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136392"/>
            <a:ext cx="54864" cy="54864"/>
          </a:xfrm>
          <a:prstGeom prst="ellipse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03120"/>
            <a:ext cx="5154168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Weighted monthly churn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5257800"/>
            <a:ext cx="54864" cy="54864"/>
          </a:xfrm>
          <a:prstGeom prst="ellipse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224528"/>
            <a:ext cx="5154168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Shows who left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296" y="1463040"/>
            <a:ext cx="5446776" cy="4882896"/>
          </a:xfrm>
          <a:prstGeom prst="roundRect">
            <a:avLst>
              <a:gd name="adj" fmla="val 5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8296" y="1463040"/>
            <a:ext cx="5446776" cy="64008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5456" y="1463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4F0E8"/>
                </a:solidFill>
                <a:latin typeface="Georgia"/>
              </a:rPr>
              <a:t>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5536" y="1463040"/>
            <a:ext cx="4486656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0E8"/>
                </a:solidFill>
                <a:latin typeface="Georgia"/>
              </a:rPr>
              <a:t>The base</a:t>
            </a:r>
          </a:p>
        </p:txBody>
      </p:sp>
      <p:sp>
        <p:nvSpPr>
          <p:cNvPr id="16" name="Oval 15"/>
          <p:cNvSpPr/>
          <p:nvPr/>
        </p:nvSpPr>
        <p:spPr>
          <a:xfrm>
            <a:off x="6361176" y="3136392"/>
            <a:ext cx="54864" cy="54864"/>
          </a:xfrm>
          <a:prstGeom prst="ellipse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8336" y="2103120"/>
            <a:ext cx="4989576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Active subscriptions</a:t>
            </a:r>
          </a:p>
        </p:txBody>
      </p:sp>
      <p:sp>
        <p:nvSpPr>
          <p:cNvPr id="18" name="Oval 17"/>
          <p:cNvSpPr/>
          <p:nvPr/>
        </p:nvSpPr>
        <p:spPr>
          <a:xfrm>
            <a:off x="6361176" y="5257800"/>
            <a:ext cx="54864" cy="54864"/>
          </a:xfrm>
          <a:prstGeom prst="ellipse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336" y="4224528"/>
            <a:ext cx="4989576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Shows who remains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VII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How the review is sequenced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828800"/>
            <a:ext cx="11058144" cy="27432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2641092" cy="4791456"/>
          </a:xfrm>
          <a:prstGeom prst="roundRect">
            <a:avLst>
              <a:gd name="adj" fmla="val 6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83080"/>
            <a:ext cx="137160" cy="137160"/>
          </a:xfrm>
          <a:prstGeom prst="ellipse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91640"/>
            <a:ext cx="21381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C4221"/>
                </a:solidFill>
                <a:latin typeface="Georgia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" y="2194560"/>
            <a:ext cx="232105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1915"/>
                </a:solidFill>
                <a:latin typeface="Georgia"/>
              </a:rPr>
              <a:t>Headline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" y="4677156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" y="4814316"/>
            <a:ext cx="2321052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564C"/>
                </a:solidFill>
                <a:latin typeface="Calibri"/>
              </a:rPr>
              <a:t>The figures that frame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564C"/>
                </a:solidFill>
                <a:latin typeface="Calibri"/>
              </a:rPr>
              <a:t>the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2612" y="1554480"/>
            <a:ext cx="2641092" cy="4791456"/>
          </a:xfrm>
          <a:prstGeom prst="roundRect">
            <a:avLst>
              <a:gd name="adj" fmla="val 6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55492" y="1783080"/>
            <a:ext cx="137160" cy="137160"/>
          </a:xfrm>
          <a:prstGeom prst="ellipse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8372" y="1691640"/>
            <a:ext cx="21381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C4221"/>
                </a:solidFill>
                <a:latin typeface="Georgia"/>
              </a:rPr>
              <a:t>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2632" y="2194560"/>
            <a:ext cx="232105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1915"/>
                </a:solidFill>
                <a:latin typeface="Georgia"/>
              </a:rPr>
              <a:t>Trend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32632" y="4677156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2632" y="4814316"/>
            <a:ext cx="2321052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564C"/>
                </a:solidFill>
                <a:latin typeface="Calibri"/>
              </a:rPr>
              <a:t>The monthly 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8296" y="1554480"/>
            <a:ext cx="2641092" cy="4791456"/>
          </a:xfrm>
          <a:prstGeom prst="roundRect">
            <a:avLst>
              <a:gd name="adj" fmla="val 6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61176" y="1783080"/>
            <a:ext cx="137160" cy="137160"/>
          </a:xfrm>
          <a:prstGeom prst="ellipse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4056" y="1691640"/>
            <a:ext cx="21381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C4221"/>
                </a:solidFill>
                <a:latin typeface="Georgia"/>
              </a:rPr>
              <a:t>III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8316" y="2194560"/>
            <a:ext cx="232105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1915"/>
                </a:solidFill>
                <a:latin typeface="Georgia"/>
              </a:rPr>
              <a:t>Segments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8316" y="4677156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8316" y="4814316"/>
            <a:ext cx="2321052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564C"/>
                </a:solidFill>
                <a:latin typeface="Calibri"/>
              </a:rPr>
              <a:t>Where churn sits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3980" y="1554480"/>
            <a:ext cx="2641092" cy="4791456"/>
          </a:xfrm>
          <a:prstGeom prst="roundRect">
            <a:avLst>
              <a:gd name="adj" fmla="val 6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66860" y="1783080"/>
            <a:ext cx="137160" cy="137160"/>
          </a:xfrm>
          <a:prstGeom prst="ellipse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9740" y="1691640"/>
            <a:ext cx="21381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C4221"/>
                </a:solidFill>
                <a:latin typeface="Georgia"/>
              </a:rPr>
              <a:t>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194560"/>
            <a:ext cx="232105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1915"/>
                </a:solidFill>
                <a:latin typeface="Georgia"/>
              </a:rPr>
              <a:t>Sources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4677156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4814316"/>
            <a:ext cx="2321052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564C"/>
                </a:solidFill>
                <a:latin typeface="Calibri"/>
              </a:rPr>
              <a:t>How to trace a figure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VIII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The point of the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63040"/>
            <a:ext cx="11058144" cy="4882896"/>
          </a:xfrm>
          <a:prstGeom prst="roundRect">
            <a:avLst>
              <a:gd name="adj" fmla="val 4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91440" cy="4882896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5448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9C4221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77440"/>
            <a:ext cx="10418064" cy="2441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915"/>
                </a:solidFill>
                <a:latin typeface="Georgia"/>
              </a:rPr>
              <a:t>A retention review is a story about who stays.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5705856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5614416"/>
            <a:ext cx="996086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564C"/>
                </a:solidFill>
                <a:latin typeface="Calibri"/>
              </a:rPr>
              <a:t>Review 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The story in two parts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63040"/>
            <a:ext cx="5611368" cy="4882896"/>
          </a:xfrm>
          <a:prstGeom prst="roundRect">
            <a:avLst>
              <a:gd name="adj" fmla="val 5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5611368" cy="64008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5245608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0E8"/>
                </a:solidFill>
                <a:latin typeface="Georgia"/>
              </a:rPr>
              <a:t>The path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3136392"/>
            <a:ext cx="54864" cy="54864"/>
          </a:xfrm>
          <a:prstGeom prst="ellipse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103120"/>
            <a:ext cx="5154168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The monthly path shows the shape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5257800"/>
            <a:ext cx="54864" cy="54864"/>
          </a:xfrm>
          <a:prstGeom prst="ellipse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4224528"/>
            <a:ext cx="5154168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The segment split shows where it sits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296" y="1463040"/>
            <a:ext cx="5446776" cy="4882896"/>
          </a:xfrm>
          <a:prstGeom prst="roundRect">
            <a:avLst>
              <a:gd name="adj" fmla="val 5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8296" y="1463040"/>
            <a:ext cx="5446776" cy="64008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176" y="1463040"/>
            <a:ext cx="5081016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0E8"/>
                </a:solidFill>
                <a:latin typeface="Georgia"/>
              </a:rPr>
              <a:t>The split</a:t>
            </a:r>
          </a:p>
        </p:txBody>
      </p:sp>
      <p:sp>
        <p:nvSpPr>
          <p:cNvPr id="14" name="Oval 13"/>
          <p:cNvSpPr/>
          <p:nvPr/>
        </p:nvSpPr>
        <p:spPr>
          <a:xfrm>
            <a:off x="6361176" y="3136392"/>
            <a:ext cx="54864" cy="54864"/>
          </a:xfrm>
          <a:prstGeom prst="ellipse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8336" y="2103120"/>
            <a:ext cx="4989576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The headline figures frame both</a:t>
            </a:r>
          </a:p>
        </p:txBody>
      </p:sp>
      <p:sp>
        <p:nvSpPr>
          <p:cNvPr id="16" name="Oval 15"/>
          <p:cNvSpPr/>
          <p:nvPr/>
        </p:nvSpPr>
        <p:spPr>
          <a:xfrm>
            <a:off x="6361176" y="5257800"/>
            <a:ext cx="54864" cy="54864"/>
          </a:xfrm>
          <a:prstGeom prst="ellipse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8336" y="4224528"/>
            <a:ext cx="4989576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The sources trace every figure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Churn is highest in SMB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463040"/>
            <a:ext cx="11058144" cy="1220724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2959120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F0E8"/>
                </a:solidFill>
                <a:latin typeface="Calibri"/>
              </a:rPr>
              <a:t>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63208" y="1463040"/>
            <a:ext cx="7870424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F0E8"/>
                </a:solidFill>
                <a:latin typeface="Calibri"/>
              </a:rPr>
              <a:t>Weighted churn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83764"/>
            <a:ext cx="11058144" cy="1220724"/>
          </a:xfrm>
          <a:prstGeom prst="rect">
            <a:avLst/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683764"/>
            <a:ext cx="2959120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3208" y="2683764"/>
            <a:ext cx="7870424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915"/>
                </a:solidFill>
                <a:latin typeface="Georgia"/>
              </a:rPr>
              <a:t>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04488"/>
            <a:ext cx="2959120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Mid-market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3208" y="3904488"/>
            <a:ext cx="7870424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915"/>
                </a:solidFill>
                <a:latin typeface="Georgia"/>
              </a:rPr>
              <a:t>1.7%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125212"/>
            <a:ext cx="11058144" cy="1220724"/>
          </a:xfrm>
          <a:prstGeom prst="rect">
            <a:avLst/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125212"/>
            <a:ext cx="2959120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SMB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3208" y="5125212"/>
            <a:ext cx="7870424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915"/>
                </a:solidFill>
                <a:latin typeface="Georgia"/>
              </a:rPr>
              <a:t>3.2%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64C"/>
                </a:solidFill>
                <a:latin typeface="Calibri"/>
              </a:rPr>
              <a:t>Sources   Weighted monthly churn by 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XI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Three readings of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63040"/>
            <a:ext cx="3740912" cy="4882896"/>
          </a:xfrm>
          <a:prstGeom prst="roundRect">
            <a:avLst>
              <a:gd name="adj" fmla="val 5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3740912" cy="54864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3375152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9C4221"/>
                </a:solidFill>
                <a:latin typeface="Georgia"/>
              </a:rPr>
              <a:t>I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834640"/>
            <a:ext cx="45720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017520"/>
            <a:ext cx="3375152" cy="3054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C1915"/>
                </a:solidFill>
                <a:latin typeface="Calibri"/>
              </a:rPr>
              <a:t>The headline figures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C1915"/>
                </a:solidFill>
                <a:latin typeface="Calibri"/>
              </a:rPr>
              <a:t>frame the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7840" y="1463040"/>
            <a:ext cx="3740912" cy="4882896"/>
          </a:xfrm>
          <a:prstGeom prst="roundRect">
            <a:avLst>
              <a:gd name="adj" fmla="val 5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7840" y="1463040"/>
            <a:ext cx="3740912" cy="54864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0720" y="1691640"/>
            <a:ext cx="3375152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9C4221"/>
                </a:solidFill>
                <a:latin typeface="Georgia"/>
              </a:rPr>
              <a:t>II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0720" y="2834640"/>
            <a:ext cx="45720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0720" y="3017520"/>
            <a:ext cx="3375152" cy="3054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C1915"/>
                </a:solidFill>
                <a:latin typeface="Calibri"/>
              </a:rPr>
              <a:t>The monthly path shows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C1915"/>
                </a:solidFill>
                <a:latin typeface="Calibri"/>
              </a:rPr>
              <a:t>the direction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8752" y="1463040"/>
            <a:ext cx="3576320" cy="4882896"/>
          </a:xfrm>
          <a:prstGeom prst="roundRect">
            <a:avLst>
              <a:gd name="adj" fmla="val 5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8752" y="1463040"/>
            <a:ext cx="3576320" cy="54864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1632" y="1691640"/>
            <a:ext cx="32105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9C4221"/>
                </a:solidFill>
                <a:latin typeface="Georgia"/>
              </a:rPr>
              <a:t>III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31632" y="2834640"/>
            <a:ext cx="45720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1632" y="3017520"/>
            <a:ext cx="3210560" cy="3054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C1915"/>
                </a:solidFill>
                <a:latin typeface="Calibri"/>
              </a:rPr>
              <a:t>The segment split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C1915"/>
                </a:solidFill>
                <a:latin typeface="Calibri"/>
              </a:rPr>
              <a:t>shows where it sits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XII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3225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f1 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60020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Monthly churn (weighted)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53699" y="160020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churn_rate_quarter    main.cs.churn_monthly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05409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3172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f2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33172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Monthly NRR (weighted)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3699" y="233172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nrr_quarter    main.cs.revenue_monthly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8561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06324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f3 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06324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Active subscriptions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3699" y="306324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active_subscriptions    main.cs.churn_monthly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51713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79476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f4 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79476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Monthly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3699" y="379476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churn_trend_monthly    main.cs.churn_monthly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24865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52628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f5 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52628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Weighted monthly churn by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3699" y="452628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churn_by_segment    main.cs.churn_monthly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XIII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retention review</dc:title>
  <dc:subject>run_id=3f2b5c4e38014a1089c092f7e9ca1ff3</dc:subject>
  <dc:creator>DeckSmith</dc:creator>
  <cp:keywords>corp_default@1.0</cp:keywords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>meridian</cp:category>
</cp:coreProperties>
</file>