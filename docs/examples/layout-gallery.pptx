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churn</c:v>
                </c:pt>
              </c:strCache>
            </c:strRef>
          </c:tx>
          <c:spPr>
            <a:ln w="28575">
              <a:solidFill>
                <a:srgbClr val="1A3144"/>
              </a:solidFill>
            </a:ln>
          </c:spPr>
          <c:marker>
            <c:symbol val="circle"/>
            <c:size val="8"/>
            <c:spPr>
              <a:solidFill>
                <a:srgbClr val="1A3144"/>
              </a:solidFill>
              <a:ln>
                <a:noFill/>
              </a:ln>
            </c:spPr>
          </c:marker>
          <c:dPt>
            <c:idx val="0"/>
            <c:marker>
              <c:spPr>
                <a:solidFill>
                  <a:srgbClr val="1A3144"/>
                </a:solidFill>
                <a:ln>
                  <a:noFill/>
                </a:ln>
              </c:spPr>
            </c:marker>
          </c:dPt>
          <c:dPt>
            <c:idx val="1"/>
            <c:marker>
              <c:spPr>
                <a:solidFill>
                  <a:srgbClr val="1A3144"/>
                </a:solidFill>
                <a:ln>
                  <a:noFill/>
                </a:ln>
              </c:spPr>
            </c:marker>
          </c:dPt>
          <c:dPt>
            <c:idx val="2"/>
            <c:marker>
              <c:spPr>
                <a:solidFill>
                  <a:srgbClr val="9C4221"/>
                </a:solidFill>
                <a:ln>
                  <a:noFill/>
                </a:ln>
              </c:spPr>
            </c:marke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9C4221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2026-07</c:v>
                </c:pt>
                <c:pt idx="1">
                  <c:v>2026-08</c:v>
                </c:pt>
                <c:pt idx="2">
                  <c:v>2026-09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0.024465327284510695</c:v>
                </c:pt>
                <c:pt idx="1">
                  <c:v>0.023969319271332695</c:v>
                </c:pt>
                <c:pt idx="2">
                  <c:v>0.022352568167406467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1C1915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DCD0"/>
            </a:solidFill>
          </a:ln>
        </c:spPr>
        <c:txPr>
          <a:bodyPr/>
          <a:lstStyle/>
          <a:p>
            <a:pPr>
              <a:defRPr sz="1200">
                <a:solidFill>
                  <a:srgbClr val="1C1915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02562734479891802"/>
          <c:min val="0.021401826564709563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monthly churn by segment</c:v>
                </c:pt>
              </c:strCache>
            </c:strRef>
          </c:tx>
          <c:spPr>
            <a:solidFill>
              <a:srgbClr val="1A3144"/>
            </a:solidFill>
            <a:ln>
              <a:noFill/>
            </a:ln>
          </c:spPr>
          <c:dPt>
            <c:idx val="0"/>
            <c:spPr>
              <a:solidFill>
                <a:srgbClr val="1A3144"/>
              </a:solidFill>
              <a:ln>
                <a:noFill/>
              </a:ln>
            </c:spPr>
          </c:dPt>
          <c:dPt>
            <c:idx val="1"/>
            <c:spPr>
              <a:solidFill>
                <a:srgbClr val="1A3144"/>
              </a:solidFill>
              <a:ln>
                <a:noFill/>
              </a:ln>
            </c:spPr>
          </c:dPt>
          <c:dPt>
            <c:idx val="2"/>
            <c:spPr>
              <a:solidFill>
                <a:srgbClr val="9C4221"/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9C4221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0.005371530886302597</c:v>
                </c:pt>
                <c:pt idx="1">
                  <c:v>0.01675257731958763</c:v>
                </c:pt>
                <c:pt idx="2">
                  <c:v>0.031662781662781664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1C1915"/>
                  </a:solidFill>
                  <a:latin typeface="Calibri"/>
                </a:defRPr>
              </a:pPr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3DCD0"/>
            </a:solidFill>
          </a:ln>
        </c:spPr>
        <c:txPr>
          <a:bodyPr/>
          <a:lstStyle/>
          <a:p>
            <a:pPr>
              <a:defRPr sz="1200">
                <a:solidFill>
                  <a:srgbClr val="1C191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052836052836053"/>
          <c:min val="0.0"/>
        </c:scaling>
        <c:delete/>
        <c:axPos val="b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duckdb-fea5fb8daf03 · queried 2026-10-18 07:24 UTC</a:t>
            </a:r>
          </a:p>
          <a:p>
            <a:r>
              <a:t>f2 · Monthly NRR (weighted) · nrr_quarter · main.cs.revenue_monthly · statement duckdb-6026ec64c4c3 · queried 2026-10-18 07:24 UTC</a:t>
            </a:r>
          </a:p>
          <a:p>
            <a:r>
              <a:t>f3 · Active subscriptions · active_subscriptions · main.cs.churn_monthly · statement duckdb-1ec5cf295934 · queried 2026-10-18 07:24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f4 · Monthly churn · churn_trend_monthly · main.cs.churn_monthly · statement duckdb-1804a6cd1a16 · queried 2026-10-18 07:24 UTC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f5 · Weighted monthly churn by segment · churn_by_segment · main.cs.churn_monthly · statement duckdb-388919d3571f · queried 2026-10-18 07:24 UTC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duckdb-fea5fb8daf03 · queried 2026-10-18 07:24 UTC</a:t>
            </a:r>
          </a:p>
          <a:p>
            <a:r>
              <a:t>f2 · Monthly NRR (weighted) · nrr_quarter · main.cs.revenue_monthly · statement duckdb-6026ec64c4c3 · queried 2026-10-18 07:24 UTC</a:t>
            </a:r>
          </a:p>
          <a:p>
            <a:r>
              <a:t>f3 · Active subscriptions · active_subscriptions · main.cs.churn_monthly · statement duckdb-1ec5cf295934 · queried 2026-10-18 07:24 UTC</a:t>
            </a:r>
          </a:p>
          <a:p>
            <a:r>
              <a:t>f4 · Monthly churn · churn_trend_monthly · main.cs.churn_monthly · statement duckdb-1804a6cd1a16 · queried 2026-10-18 07:24 UTC</a:t>
            </a:r>
          </a:p>
          <a:p>
            <a:r>
              <a:t>f5 · Weighted monthly churn by segment · churn_by_segment · main.cs.churn_monthly · statement duckdb-388919d3571f · queried 2026-10-18 07:24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1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71359" y="0"/>
            <a:ext cx="5120641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16495" y="0"/>
            <a:ext cx="54864" cy="685800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0D6"/>
                </a:solidFill>
                <a:latin typeface="Calibri"/>
              </a:rPr>
              <a:t>DeckSmith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57400"/>
            <a:ext cx="6367271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4F0E8"/>
                </a:solidFill>
                <a:latin typeface="Georgia"/>
              </a:rPr>
              <a:t>Customer retention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4F0E8"/>
                </a:solidFill>
                <a:latin typeface="Georgia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60520"/>
            <a:ext cx="6367271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5D0D6"/>
                </a:solidFill>
                <a:latin typeface="Calibri"/>
              </a:rPr>
              <a:t>Prepared for the board audience</a:t>
            </a:r>
          </a:p>
        </p:txBody>
      </p:sp>
      <p:sp>
        <p:nvSpPr>
          <p:cNvPr id="7" name="Oval 6"/>
          <p:cNvSpPr/>
          <p:nvPr/>
        </p:nvSpPr>
        <p:spPr>
          <a:xfrm>
            <a:off x="8808719" y="2606040"/>
            <a:ext cx="1645920" cy="1645920"/>
          </a:xfrm>
          <a:prstGeom prst="ellipse">
            <a:avLst/>
          </a:prstGeom>
          <a:noFill/>
          <a:ln w="15875">
            <a:solidFill>
              <a:srgbClr val="9C4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4351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4F0E8"/>
                </a:solidFill>
                <a:latin typeface="Georgia"/>
              </a:rPr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1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46888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0"/>
            <a:ext cx="8417052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4F0E8"/>
                </a:solidFill>
                <a:latin typeface="Georgia"/>
              </a:rPr>
              <a:t>The retention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0"/>
            <a:ext cx="841705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5D0D6"/>
                </a:solidFill>
                <a:latin typeface="Calibri"/>
              </a:rPr>
              <a:t>For the board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4F0E8"/>
                </a:solidFill>
                <a:latin typeface="Georgia"/>
              </a:rPr>
              <a:t>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Where retention stands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3740912" cy="205740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3740912" cy="36576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691640"/>
            <a:ext cx="3512312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915"/>
                </a:solidFill>
                <a:latin typeface="Georgia"/>
              </a:rPr>
              <a:t>2.4%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560320"/>
            <a:ext cx="351231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C"/>
                </a:solidFill>
                <a:latin typeface="Calibri"/>
              </a:rPr>
              <a:t>Monthly churn (weighted)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840" y="1463040"/>
            <a:ext cx="3740912" cy="205740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07840" y="1463040"/>
            <a:ext cx="3740912" cy="36576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5000" y="1691640"/>
            <a:ext cx="3512312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915"/>
                </a:solidFill>
                <a:latin typeface="Georgia"/>
              </a:rPr>
              <a:t>99.8%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5000" y="2560320"/>
            <a:ext cx="351231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C"/>
                </a:solidFill>
                <a:latin typeface="Calibri"/>
              </a:rPr>
              <a:t>Monthly NRR (weighted)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8752" y="1463040"/>
            <a:ext cx="3576320" cy="205740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8752" y="1463040"/>
            <a:ext cx="3576320" cy="36576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5912" y="1691640"/>
            <a:ext cx="33477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915"/>
                </a:solidFill>
                <a:latin typeface="Georgia"/>
              </a:rPr>
              <a:t>6,172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5912" y="2560320"/>
            <a:ext cx="3347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C"/>
                </a:solidFill>
                <a:latin typeface="Calibri"/>
              </a:rPr>
              <a:t>Active subscriptions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94760"/>
            <a:ext cx="11058144" cy="118872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794760"/>
            <a:ext cx="54864" cy="118872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886200"/>
            <a:ext cx="10646664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Weighted monthly churn was 2.4% over the review period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64C"/>
                </a:solidFill>
                <a:latin typeface="Calibri"/>
              </a:rPr>
              <a:t>Sources   Monthly churn (weighted)   ·   Monthly NRR (weighted)   ·   Active subscriptions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III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Monthly churn ended lower than it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11058144" cy="4791456"/>
          </a:xfrm>
          <a:prstGeom prst="roundRect">
            <a:avLst>
              <a:gd name="adj" fmla="val 4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04088" y="1691640"/>
          <a:ext cx="10783824" cy="4517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64C"/>
                </a:solidFill>
                <a:latin typeface="Calibri"/>
              </a:rPr>
              <a:t>Sources   Monthly churn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IV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Churn is highest in SMB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11058144" cy="4791456"/>
          </a:xfrm>
          <a:prstGeom prst="roundRect">
            <a:avLst>
              <a:gd name="adj" fmla="val 4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04088" y="1691640"/>
          <a:ext cx="10783824" cy="4517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64C"/>
                </a:solidFill>
                <a:latin typeface="Calibri"/>
              </a:rPr>
              <a:t>Sources   Weighted monthly churn by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What this review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C4221"/>
                </a:solidFill>
                <a:latin typeface="Georg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164592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headline figures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C4221"/>
                </a:solidFill>
                <a:latin typeface="Georgia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228600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monthly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C4221"/>
                </a:solidFill>
                <a:latin typeface="Georgia"/>
              </a:rPr>
              <a:t>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92608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segment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66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C4221"/>
                </a:solidFill>
                <a:latin typeface="Georgia"/>
              </a:rPr>
              <a:t>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56616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VI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Two ways to read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5611368" cy="4791456"/>
          </a:xfrm>
          <a:prstGeom prst="roundRect">
            <a:avLst>
              <a:gd name="adj" fmla="val 6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37360"/>
            <a:ext cx="529132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C4221"/>
                </a:solidFill>
                <a:latin typeface="Georgia"/>
              </a:rPr>
              <a:t>The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94560"/>
            <a:ext cx="5291328" cy="396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– Weighted monthly churn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– Shows who left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8296" y="1554480"/>
            <a:ext cx="5446776" cy="4791456"/>
          </a:xfrm>
          <a:prstGeom prst="roundRect">
            <a:avLst>
              <a:gd name="adj" fmla="val 6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76" y="1737360"/>
            <a:ext cx="51267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C4221"/>
                </a:solidFill>
                <a:latin typeface="Georgia"/>
              </a:rPr>
              <a:t>The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1176" y="2194560"/>
            <a:ext cx="5126736" cy="396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– Active subscriptions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– Shows who remains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VII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How the review is sequenced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3657600"/>
            <a:ext cx="11058144" cy="13716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85188" y="3602736"/>
            <a:ext cx="128016" cy="128016"/>
          </a:xfrm>
          <a:prstGeom prst="ellipse">
            <a:avLst/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834640"/>
            <a:ext cx="267309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Georgia"/>
              </a:rPr>
              <a:t>Headline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840480"/>
            <a:ext cx="267309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The figures that frame the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review</a:t>
            </a:r>
          </a:p>
        </p:txBody>
      </p:sp>
      <p:sp>
        <p:nvSpPr>
          <p:cNvPr id="8" name="Oval 7"/>
          <p:cNvSpPr/>
          <p:nvPr/>
        </p:nvSpPr>
        <p:spPr>
          <a:xfrm>
            <a:off x="4649724" y="3602736"/>
            <a:ext cx="128016" cy="128016"/>
          </a:xfrm>
          <a:prstGeom prst="ellipse">
            <a:avLst/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7184" y="2834640"/>
            <a:ext cx="267309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Georgia"/>
              </a:rPr>
              <a:t>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84" y="3840480"/>
            <a:ext cx="267309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The monthly path</a:t>
            </a:r>
          </a:p>
        </p:txBody>
      </p:sp>
      <p:sp>
        <p:nvSpPr>
          <p:cNvPr id="11" name="Oval 10"/>
          <p:cNvSpPr/>
          <p:nvPr/>
        </p:nvSpPr>
        <p:spPr>
          <a:xfrm>
            <a:off x="7414260" y="3602736"/>
            <a:ext cx="128016" cy="128016"/>
          </a:xfrm>
          <a:prstGeom prst="ellipse">
            <a:avLst/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1720" y="2834640"/>
            <a:ext cx="267309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Georgia"/>
              </a:rPr>
              <a:t>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1720" y="3840480"/>
            <a:ext cx="267309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Where churn sits</a:t>
            </a:r>
          </a:p>
        </p:txBody>
      </p:sp>
      <p:sp>
        <p:nvSpPr>
          <p:cNvPr id="14" name="Oval 13"/>
          <p:cNvSpPr/>
          <p:nvPr/>
        </p:nvSpPr>
        <p:spPr>
          <a:xfrm>
            <a:off x="10178796" y="3602736"/>
            <a:ext cx="128016" cy="128016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6256" y="2834640"/>
            <a:ext cx="267309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Georgia"/>
              </a:rPr>
              <a:t>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3840480"/>
            <a:ext cx="267309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How to trace a figure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VIII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The point of the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02156" y="1828800"/>
            <a:ext cx="54864" cy="274320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0756" y="1828800"/>
            <a:ext cx="9077960" cy="2194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915"/>
                </a:solidFill>
                <a:latin typeface="Georgia"/>
              </a:rPr>
              <a:t>A retention review is a story about who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915"/>
                </a:solidFill>
                <a:latin typeface="Georgia"/>
              </a:rPr>
              <a:t>stays.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0756" y="4114800"/>
            <a:ext cx="9077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C"/>
                </a:solidFill>
                <a:latin typeface="Calibri"/>
              </a:rPr>
              <a:t>Review note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The story in two parts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737360"/>
            <a:ext cx="5428488" cy="45171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– The monthly path shows the shape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– The segment split shows where it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8296" y="1737360"/>
            <a:ext cx="5263896" cy="45171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– The headline figures frame both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– The sources trace every figure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1645920"/>
            <a:ext cx="9144" cy="4608576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3225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f1 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60020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Monthly churn (weighted)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3699" y="160020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churn_rate_quarter    main.cs.churn_monthly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05409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f2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3172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Monthly NRR (weighted)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3699" y="233172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nrr_quarter    main.cs.revenue_monthly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8561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06324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f3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06324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Active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3699" y="306324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active_subscriptions    main.cs.churn_monthly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51713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9476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f4 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79476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Monthly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3699" y="379476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churn_trend_monthly    main.cs.churn_monthly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24865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52628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f5 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52628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Weighted monthly churn by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3699" y="452628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churn_by_segment    main.cs.churn_monthly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XI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review</dc:title>
  <dc:subject>run_id=d1648243184e41869bc0eebd1a61e971</dc:subject>
  <dc:creator>DeckSmith</dc:creator>
  <cp:keywords>corp_default@1.0</cp:keywords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>meridian</cp:category>
</cp:coreProperties>
</file>