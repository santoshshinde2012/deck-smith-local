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churn</c:v>
                </c:pt>
              </c:strCache>
            </c:strRef>
          </c:tx>
          <c:spPr>
            <a:ln w="28575">
              <a:solidFill>
                <a:srgbClr val="062824"/>
              </a:solidFill>
            </a:ln>
          </c:spPr>
          <c:marker>
            <c:symbol val="circle"/>
            <c:size val="8"/>
            <c:spPr>
              <a:solidFill>
                <a:srgbClr val="062824"/>
              </a:solidFill>
              <a:ln>
                <a:noFill/>
              </a:ln>
            </c:spPr>
          </c:marker>
          <c:dPt>
            <c:idx val="0"/>
            <c:marker>
              <c:spPr>
                <a:solidFill>
                  <a:srgbClr val="062824"/>
                </a:solidFill>
                <a:ln>
                  <a:noFill/>
                </a:ln>
              </c:spPr>
            </c:marker>
          </c:dPt>
          <c:dPt>
            <c:idx val="1"/>
            <c:marker>
              <c:spPr>
                <a:solidFill>
                  <a:srgbClr val="062824"/>
                </a:solidFill>
                <a:ln>
                  <a:noFill/>
                </a:ln>
              </c:spPr>
            </c:marker>
          </c:dPt>
          <c:dPt>
            <c:idx val="2"/>
            <c:marker>
              <c:spPr>
                <a:solidFill>
                  <a:srgbClr val="A83820"/>
                </a:solidFill>
                <a:ln>
                  <a:noFill/>
                </a:ln>
              </c:spPr>
            </c:marker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1100" b="0">
                      <a:solidFill>
                        <a:srgbClr val="0C2422"/>
                      </a:solidFill>
                      <a:latin typeface="Calibri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spPr/>
              <c:txPr>
                <a:bodyPr/>
                <a:lstStyle/>
                <a:p>
                  <a:pPr>
                    <a:defRPr sz="1100" b="0">
                      <a:solidFill>
                        <a:srgbClr val="0C2422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spPr>
                <a:solidFill>
                  <a:srgbClr val="F6FBFA"/>
                </a:solidFill>
              </c:spPr>
              <c:txPr>
                <a:bodyPr/>
                <a:lstStyle/>
                <a:p>
                  <a:pPr>
                    <a:defRPr sz="1200" b="1">
                      <a:solidFill>
                        <a:srgbClr val="0C2422"/>
                      </a:solidFill>
                      <a:latin typeface="Calibri"/>
                    </a:defRPr>
                  </a:pPr>
                </a:p>
              </c:txPr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</c:strCache>
            </c:strRef>
          </c:cat>
          <c:val>
            <c:numRef>
              <c:f>Sheet1!$B$2:$B$4</c:f>
              <c:numCache>
                <c:formatCode>0.0%</c:formatCode>
                <c:ptCount val="3"/>
                <c:pt idx="0">
                  <c:v>0.024465327284510695</c:v>
                </c:pt>
                <c:pt idx="1">
                  <c:v>0.023969319271332695</c:v>
                </c:pt>
                <c:pt idx="2">
                  <c:v>0.022352568167406467</c:v>
                </c:pt>
              </c:numCache>
            </c:numRef>
          </c:val>
          <c:smooth val="0"/>
        </c:ser>
        <c:dLbls>
          <c:numFmt formatCode="0.0%" sourceLinked="0"/>
          <c:txPr>
            <a:bodyPr/>
            <a:lstStyle/>
            <a:p>
              <a:pPr>
                <a:defRPr sz="1100">
                  <a:solidFill>
                    <a:srgbClr val="0C2422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5DDD6"/>
            </a:solidFill>
          </a:ln>
        </c:spPr>
        <c:txPr>
          <a:bodyPr/>
          <a:lstStyle/>
          <a:p>
            <a:pPr>
              <a:defRPr sz="1200">
                <a:solidFill>
                  <a:srgbClr val="0C2422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0.025838620710628445"/>
          <c:min val="0.02055672291786787"/>
        </c:scaling>
        <c:delete/>
        <c:axPos val="l"/>
        <c:majorTickMark val="none"/>
        <c:minorTickMark val="none"/>
        <c:tickLblPos val="nextTo"/>
        <c:spPr>
          <a:ln>
            <a:noFill/>
          </a:ln>
        </c:sp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Weighted monthly churn by segment</c:v>
                </c:pt>
              </c:strCache>
            </c:strRef>
          </c:tx>
          <c:spPr>
            <a:solidFill>
              <a:srgbClr val="062824"/>
            </a:solidFill>
            <a:ln>
              <a:noFill/>
            </a:ln>
          </c:spPr>
          <c:dPt>
            <c:idx val="0"/>
            <c:spPr>
              <a:solidFill>
                <a:srgbClr val="062824"/>
              </a:solidFill>
              <a:ln>
                <a:noFill/>
              </a:ln>
            </c:spPr>
          </c:dPt>
          <c:dPt>
            <c:idx val="1"/>
            <c:spPr>
              <a:solidFill>
                <a:srgbClr val="062824"/>
              </a:solidFill>
              <a:ln>
                <a:noFill/>
              </a:ln>
            </c:spPr>
          </c:dPt>
          <c:dPt>
            <c:idx val="2"/>
            <c:spPr>
              <a:solidFill>
                <a:srgbClr val="A83820"/>
              </a:solidFill>
              <a:ln>
                <a:noFill/>
              </a:ln>
            </c:spPr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1100" b="0">
                      <a:solidFill>
                        <a:srgbClr val="0C2422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spPr/>
              <c:txPr>
                <a:bodyPr/>
                <a:lstStyle/>
                <a:p>
                  <a:pPr>
                    <a:defRPr sz="1100" b="0">
                      <a:solidFill>
                        <a:srgbClr val="0C2422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spPr/>
              <c:txPr>
                <a:bodyPr/>
                <a:lstStyle/>
                <a:p>
                  <a:pPr>
                    <a:defRPr sz="1200" b="1">
                      <a:solidFill>
                        <a:srgbClr val="A83820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Enterprise</c:v>
                </c:pt>
                <c:pt idx="1">
                  <c:v>Mid-market</c:v>
                </c:pt>
                <c:pt idx="2">
                  <c:v>SMB</c:v>
                </c:pt>
              </c:strCache>
            </c:strRef>
          </c:cat>
          <c:val>
            <c:numRef>
              <c:f>Sheet1!$B$2:$B$4</c:f>
              <c:numCache>
                <c:formatCode>0.0%</c:formatCode>
                <c:ptCount val="3"/>
                <c:pt idx="0">
                  <c:v>0.005371530886302597</c:v>
                </c:pt>
                <c:pt idx="1">
                  <c:v>0.01675257731958763</c:v>
                </c:pt>
                <c:pt idx="2">
                  <c:v>0.031662781662781664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1100">
                  <a:solidFill>
                    <a:srgbClr val="0C2422"/>
                  </a:solidFill>
                  <a:latin typeface="Calibri"/>
                </a:defRPr>
              </a:pPr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C5DDD6"/>
            </a:solidFill>
          </a:ln>
        </c:spPr>
        <c:txPr>
          <a:bodyPr/>
          <a:lstStyle/>
          <a:p>
            <a:pPr>
              <a:defRPr sz="1200">
                <a:solidFill>
                  <a:srgbClr val="0C2422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4052836052836053"/>
          <c:min val="0.0"/>
        </c:scaling>
        <c:delete/>
        <c:axPos val="b"/>
        <c:majorTickMark val="none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data on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data on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f1 · Monthly churn (weighted) · churn_rate_quarter · main.cs.churn_monthly · statement duckdb-6b1b2c216817 · queried 2026-10-18 08:06 UTC</a:t>
            </a:r>
          </a:p>
          <a:p>
            <a:r>
              <a:t>f2 · Monthly NRR (weighted) · nrr_quarter · main.cs.revenue_monthly · statement duckdb-e40bf1771bb9 · queried 2026-10-18 08:06 UTC</a:t>
            </a:r>
          </a:p>
          <a:p>
            <a:r>
              <a:t>f3 · Active subscriptions · active_subscriptions · main.cs.churn_monthly · statement duckdb-ae097346e840 · queried 2026-10-18 08:06 UTC</a:t>
            </a:r>
          </a:p>
          <a:p>
            <a:r>
              <a:t>f4 · Monthly churn · churn_trend_monthly · main.cs.churn_monthly · statement duckdb-e5e757cc707c · queried 2026-10-18 08:06 UTC</a:t>
            </a:r>
          </a:p>
          <a:p>
            <a:r>
              <a:t>f1 SQL:</a:t>
            </a:r>
          </a:p>
          <a:p>
            <a:r>
              <a:t>SELECT CASE WHEN SUM(active_start) &lt;&gt; 0 THEN SUM(churned) / SUM(active_start) ELSE NULL END AS churn_rate FROM lake.cs.v_churn_monthly__bob WHERE "month" &gt;= $start_month AND "month" &lt; $end_month</a:t>
            </a:r>
          </a:p>
          <a:p>
            <a:r>
              <a:t>f1 parameters: {"end_month": "2026-10-01", "start_month": "2026-07-01"}</a:t>
            </a:r>
          </a:p>
          <a:p>
            <a:r>
              <a:t>f1 template SHA-256: a897f662afe1919b49268c820e58ea712c28e38f408d7d77465b1debd7053d63</a:t>
            </a:r>
          </a:p>
          <a:p>
            <a:r>
              <a:t>f2 SQL:</a:t>
            </a:r>
          </a:p>
          <a:p>
            <a:r>
              <a:t>SELECT CASE WHEN SUM(mrr_start) &lt;&gt; 0 THEN SUM(mrr_retained) / SUM(mrr_start) ELSE NULL END AS nrr FROM lake.cs.v_revenue_monthly__bob WHERE "month" &gt;= $start_month AND "month" &lt; $end_month</a:t>
            </a:r>
          </a:p>
          <a:p>
            <a:r>
              <a:t>f2 parameters: {"end_month": "2026-10-01", "start_month": "2026-07-01"}</a:t>
            </a:r>
          </a:p>
          <a:p>
            <a:r>
              <a:t>f2 template SHA-256: ec85130488823e6392d012cfb710d63468646785670750d0ae22183c9730561a</a:t>
            </a:r>
          </a:p>
          <a:p>
            <a:r>
              <a:t>f3 SQL:</a:t>
            </a:r>
          </a:p>
          <a:p>
            <a:r>
              <a:t>SELECT SUM(active_start) AS active_subscriptions FROM lake.cs.v_churn_monthly__bob WHERE "month" = $start_month</a:t>
            </a:r>
          </a:p>
          <a:p>
            <a:r>
              <a:t>f3 parameters: {"start_month": "2026-07-01"}</a:t>
            </a:r>
          </a:p>
          <a:p>
            <a:r>
              <a:t>f3 template SHA-256: 0e1eca481a61ce5a487969e9b73097141164bf4d00f5b0c10955808376a6caaf</a:t>
            </a:r>
          </a:p>
          <a:p>
            <a:r>
              <a:t>f4 SQL:</a:t>
            </a:r>
          </a:p>
          <a:p>
            <a:r>
              <a:t>SELECT STRFTIME(CAST("month" AS TIMESTAMP), '%Y-%m') AS period, CASE WHEN SUM(active_start) &lt;&gt; 0 THEN SUM(churned) / SUM(active_start) ELSE NULL END AS churn_rate FROM lake.cs.v_churn_monthly__bob WHERE "month" &gt;= $start_month AND "month" &lt; $end_month GROUP BY STRFTIME(CAST("month" AS TIMESTAMP), '%Y-%m') ORDER BY period NULLS FIRST</a:t>
            </a:r>
          </a:p>
          <a:p>
            <a:r>
              <a:t>f4 parameters: {"end_month": "2026-10-01", "start_month": "2026-07-01"}</a:t>
            </a:r>
          </a:p>
          <a:p>
            <a:r>
              <a:t>f4 template SHA-256: a65c9afc5de386b7fa7a0a0e07559acc0c0782b68368b4788443dcc983561b89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f4 · Monthly churn · churn_trend_monthly · main.cs.churn_monthly · statement duckdb-e5e757cc707c · queried 2026-10-18 08:06 UTC</a:t>
            </a:r>
          </a:p>
          <a:p>
            <a:r>
              <a:t>f4 SQL:</a:t>
            </a:r>
          </a:p>
          <a:p>
            <a:r>
              <a:t>SELECT STRFTIME(CAST("month" AS TIMESTAMP), '%Y-%m') AS period, CASE WHEN SUM(active_start) &lt;&gt; 0 THEN SUM(churned) / SUM(active_start) ELSE NULL END AS churn_rate FROM lake.cs.v_churn_monthly__bob WHERE "month" &gt;= $start_month AND "month" &lt; $end_month GROUP BY STRFTIME(CAST("month" AS TIMESTAMP), '%Y-%m') ORDER BY period NULLS FIRST</a:t>
            </a:r>
          </a:p>
          <a:p>
            <a:r>
              <a:t>f4 parameters: {"end_month": "2026-10-01", "start_month": "2026-07-01"}</a:t>
            </a:r>
          </a:p>
          <a:p>
            <a:r>
              <a:t>f4 template SHA-256: a65c9afc5de386b7fa7a0a0e07559acc0c0782b68368b4788443dcc983561b89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f5 · Weighted monthly churn by segment · churn_by_segment · main.cs.churn_monthly · statement duckdb-75b26d4cc964 · queried 2026-10-18 08:06 UTC</a:t>
            </a:r>
          </a:p>
          <a:p>
            <a:r>
              <a:t>f5 SQL:</a:t>
            </a:r>
          </a:p>
          <a:p>
            <a:r>
              <a:t>SELECT segment, CASE WHEN SUM(active_start) &lt;&gt; 0 THEN SUM(churned) / SUM(active_start) ELSE NULL END AS churn_rate FROM lake.cs.v_churn_monthly__bob WHERE "month" &gt;= $start_month AND "month" &lt; $end_month GROUP BY segment ORDER BY segment NULLS FIRST</a:t>
            </a:r>
          </a:p>
          <a:p>
            <a:r>
              <a:t>f5 parameters: {"end_month": "2026-10-01", "start_month": "2026-07-01"}</a:t>
            </a:r>
          </a:p>
          <a:p>
            <a:r>
              <a:t>f5 template SHA-256: 99ee1f03a8e2648a6287d555c03e257b8edeacc38d7f3c16b260ad6e88079e9f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data on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data on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data on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data on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data on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f5 · Weighted monthly churn by segment · churn_by_segment · main.cs.churn_monthly · statement duckdb-75b26d4cc964 · queried 2026-10-18 08:06 UTC</a:t>
            </a:r>
          </a:p>
          <a:p>
            <a:r>
              <a:t>f5 SQL:</a:t>
            </a:r>
          </a:p>
          <a:p>
            <a:r>
              <a:t>SELECT segment, CASE WHEN SUM(active_start) &lt;&gt; 0 THEN SUM(churned) / SUM(active_start) ELSE NULL END AS churn_rate FROM lake.cs.v_churn_monthly__bob WHERE "month" &gt;= $start_month AND "month" &lt; $end_month GROUP BY segment ORDER BY segment NULLS FIRST</a:t>
            </a:r>
          </a:p>
          <a:p>
            <a:r>
              <a:t>f5 parameters: {"end_month": "2026-10-01", "start_month": "2026-07-01"}</a:t>
            </a:r>
          </a:p>
          <a:p>
            <a:r>
              <a:t>f5 template SHA-256: 99ee1f03a8e2648a6287d555c03e257b8edeacc38d7f3c16b260ad6e88079e9f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data on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f1 · Monthly churn (weighted) · churn_rate_quarter · main.cs.churn_monthly · statement duckdb-6b1b2c216817 · queried 2026-10-18 08:06 UTC</a:t>
            </a:r>
          </a:p>
          <a:p>
            <a:r>
              <a:t>f2 · Monthly NRR (weighted) · nrr_quarter · main.cs.revenue_monthly · statement duckdb-e40bf1771bb9 · queried 2026-10-18 08:06 UTC</a:t>
            </a:r>
          </a:p>
          <a:p>
            <a:r>
              <a:t>f3 · Active subscriptions · active_subscriptions · main.cs.churn_monthly · statement duckdb-ae097346e840 · queried 2026-10-18 08:06 UTC</a:t>
            </a:r>
          </a:p>
          <a:p>
            <a:r>
              <a:t>f4 · Monthly churn · churn_trend_monthly · main.cs.churn_monthly · statement duckdb-e5e757cc707c · queried 2026-10-18 08:06 UTC</a:t>
            </a:r>
          </a:p>
          <a:p>
            <a:r>
              <a:t>f5 · Weighted monthly churn by segment · churn_by_segment · main.cs.churn_monthly · statement duckdb-75b26d4cc964 · queried 2026-10-18 08:06 UTC</a:t>
            </a:r>
          </a:p>
          <a:p>
            <a:r>
              <a:t>f1 SQL:</a:t>
            </a:r>
          </a:p>
          <a:p>
            <a:r>
              <a:t>SELECT CASE WHEN SUM(active_start) &lt;&gt; 0 THEN SUM(churned) / SUM(active_start) ELSE NULL END AS churn_rate FROM lake.cs.v_churn_monthly__bob WHERE "month" &gt;= $start_month AND "month" &lt; $end_month</a:t>
            </a:r>
          </a:p>
          <a:p>
            <a:r>
              <a:t>f1 parameters: {"end_month": "2026-10-01", "start_month": "2026-07-01"}</a:t>
            </a:r>
          </a:p>
          <a:p>
            <a:r>
              <a:t>f1 template SHA-256: a897f662afe1919b49268c820e58ea712c28e38f408d7d77465b1debd7053d63</a:t>
            </a:r>
          </a:p>
          <a:p>
            <a:r>
              <a:t>f2 SQL:</a:t>
            </a:r>
          </a:p>
          <a:p>
            <a:r>
              <a:t>SELECT CASE WHEN SUM(mrr_start) &lt;&gt; 0 THEN SUM(mrr_retained) / SUM(mrr_start) ELSE NULL END AS nrr FROM lake.cs.v_revenue_monthly__bob WHERE "month" &gt;= $start_month AND "month" &lt; $end_month</a:t>
            </a:r>
          </a:p>
          <a:p>
            <a:r>
              <a:t>f2 parameters: {"end_month": "2026-10-01", "start_month": "2026-07-01"}</a:t>
            </a:r>
          </a:p>
          <a:p>
            <a:r>
              <a:t>f2 template SHA-256: ec85130488823e6392d012cfb710d63468646785670750d0ae22183c9730561a</a:t>
            </a:r>
          </a:p>
          <a:p>
            <a:r>
              <a:t>f3 SQL:</a:t>
            </a:r>
          </a:p>
          <a:p>
            <a:r>
              <a:t>SELECT SUM(active_start) AS active_subscriptions FROM lake.cs.v_churn_monthly__bob WHERE "month" = $start_month</a:t>
            </a:r>
          </a:p>
          <a:p>
            <a:r>
              <a:t>f3 parameters: {"start_month": "2026-07-01"}</a:t>
            </a:r>
          </a:p>
          <a:p>
            <a:r>
              <a:t>f3 template SHA-256: 0e1eca481a61ce5a487969e9b73097141164bf4d00f5b0c10955808376a6caaf</a:t>
            </a:r>
          </a:p>
          <a:p>
            <a:r>
              <a:t>f4 SQL:</a:t>
            </a:r>
          </a:p>
          <a:p>
            <a:r>
              <a:t>SELECT STRFTIME(CAST("month" AS TIMESTAMP), '%Y-%m') AS period, CASE WHEN SUM(active_start) &lt;&gt; 0 THEN SUM(churned) / SUM(active_start) ELSE NULL END AS churn_rate FROM lake.cs.v_churn_monthly__bob WHERE "month" &gt;= $start_month AND "month" &lt; $end_month GROUP BY STRFTIME(CAST("month" AS TIMESTAMP), '%Y-%m') ORDER BY period NULLS FIRST</a:t>
            </a:r>
          </a:p>
          <a:p>
            <a:r>
              <a:t>f4 parameters: {"end_month": "2026-10-01", "start_month": "2026-07-01"}</a:t>
            </a:r>
          </a:p>
          <a:p>
            <a:r>
              <a:t>f4 template SHA-256: a65c9afc5de386b7fa7a0a0e07559acc0c0782b68368b4788443dcc983561b89</a:t>
            </a:r>
          </a:p>
          <a:p>
            <a:r>
              <a:t>f5 SQL:</a:t>
            </a:r>
          </a:p>
          <a:p>
            <a:r>
              <a:t>SELECT segment, CASE WHEN SUM(active_start) &lt;&gt; 0 THEN SUM(churned) / SUM(active_start) ELSE NULL END AS churn_rate FROM lake.cs.v_churn_monthly__bob WHERE "month" &gt;= $start_month AND "month" &lt; $end_month GROUP BY segment ORDER BY segment NULLS FIRST</a:t>
            </a:r>
          </a:p>
          <a:p>
            <a:r>
              <a:t>f5 parameters: {"end_month": "2026-10-01", "start_month": "2026-07-01"}</a:t>
            </a:r>
          </a:p>
          <a:p>
            <a:r>
              <a:t>f5 template SHA-256: 99ee1f03a8e2648a6287d555c03e257b8edeacc38d7f3c16b260ad6e88079e9f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8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977639"/>
            <a:ext cx="12192000" cy="36576"/>
          </a:xfrm>
          <a:prstGeom prst="rect">
            <a:avLst/>
          </a:prstGeom>
          <a:solidFill>
            <a:srgbClr val="E4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383073"/>
            <a:ext cx="807720" cy="962863"/>
          </a:xfrm>
          <a:prstGeom prst="rect">
            <a:avLst/>
          </a:prstGeom>
          <a:solidFill>
            <a:srgbClr val="E4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29512" y="4805355"/>
            <a:ext cx="807720" cy="1540581"/>
          </a:xfrm>
          <a:prstGeom prst="rect">
            <a:avLst/>
          </a:prstGeom>
          <a:solidFill>
            <a:srgbClr val="D7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92096" y="5532852"/>
            <a:ext cx="807720" cy="813084"/>
          </a:xfrm>
          <a:prstGeom prst="rect">
            <a:avLst/>
          </a:prstGeom>
          <a:solidFill>
            <a:srgbClr val="B7C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154680" y="4420209"/>
            <a:ext cx="807720" cy="1925727"/>
          </a:xfrm>
          <a:prstGeom prst="rect">
            <a:avLst/>
          </a:prstGeom>
          <a:solidFill>
            <a:srgbClr val="E4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017264" y="5104912"/>
            <a:ext cx="807720" cy="1241024"/>
          </a:xfrm>
          <a:prstGeom prst="rect">
            <a:avLst/>
          </a:prstGeom>
          <a:solidFill>
            <a:srgbClr val="D7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879848" y="4634179"/>
            <a:ext cx="807720" cy="1711757"/>
          </a:xfrm>
          <a:prstGeom prst="rect">
            <a:avLst/>
          </a:prstGeom>
          <a:solidFill>
            <a:srgbClr val="B7C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097280"/>
            <a:ext cx="6992112" cy="1828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800" b="0">
                <a:solidFill>
                  <a:srgbClr val="E4F0EC"/>
                </a:solidFill>
                <a:latin typeface="Calibri"/>
              </a:rPr>
              <a:t>Customer retention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800" b="0">
                <a:solidFill>
                  <a:srgbClr val="E4F0EC"/>
                </a:solidFill>
                <a:latin typeface="Calibri"/>
              </a:rPr>
              <a:t>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017520"/>
            <a:ext cx="6992112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B7CDC6"/>
                </a:solidFill>
                <a:latin typeface="Calibri"/>
              </a:rPr>
              <a:t>Prepared for the board audience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6692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B7CDC6"/>
                </a:solidFill>
                <a:latin typeface="Calibri"/>
              </a:rPr>
              <a:t>DeckSmith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84992" y="6464808"/>
            <a:ext cx="54864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4F0EC"/>
                </a:solidFill>
                <a:latin typeface="Calibri"/>
              </a:rPr>
              <a:t>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8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2468880"/>
            <a:ext cx="365760" cy="27432"/>
          </a:xfrm>
          <a:prstGeom prst="rect">
            <a:avLst/>
          </a:prstGeom>
          <a:solidFill>
            <a:srgbClr val="A83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0"/>
            <a:ext cx="8417052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>
                <a:solidFill>
                  <a:srgbClr val="E4F0EC"/>
                </a:solidFill>
                <a:latin typeface="Calibri"/>
              </a:rPr>
              <a:t>The retention picture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297680"/>
            <a:ext cx="8417052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B7CDC6"/>
                </a:solidFill>
                <a:latin typeface="Calibri"/>
              </a:rPr>
              <a:t>For the board audience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84992" y="6483096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4F0EC"/>
                </a:solidFill>
                <a:latin typeface="Calibri"/>
              </a:rPr>
              <a:t>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F0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1058144" cy="841248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0C2422"/>
                </a:solidFill>
                <a:latin typeface="Calibri"/>
              </a:rPr>
              <a:t>Where retention stands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34440"/>
            <a:ext cx="11058144" cy="18288"/>
          </a:xfrm>
          <a:prstGeom prst="rect">
            <a:avLst/>
          </a:prstGeom>
          <a:solidFill>
            <a:srgbClr val="A83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1417320"/>
            <a:ext cx="3740912" cy="2377440"/>
          </a:xfrm>
          <a:prstGeom prst="roundRect">
            <a:avLst>
              <a:gd name="adj" fmla="val 8000"/>
            </a:avLst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417320"/>
            <a:ext cx="3740912" cy="36576"/>
          </a:xfrm>
          <a:prstGeom prst="rect">
            <a:avLst/>
          </a:prstGeom>
          <a:solidFill>
            <a:srgbClr val="A83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554480"/>
            <a:ext cx="3466592" cy="7315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C2422"/>
                </a:solidFill>
                <a:latin typeface="Calibri"/>
              </a:rPr>
              <a:t>2.4%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2286000"/>
            <a:ext cx="3466592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C4A45"/>
                </a:solidFill>
                <a:latin typeface="Calibri"/>
              </a:rPr>
              <a:t>Monthly churn (weighted)</a:t>
            </a:r>
          </a:p>
        </p:txBody>
      </p:sp>
      <p:sp>
        <p:nvSpPr>
          <p:cNvPr id="8" name="Rectangle 7"/>
          <p:cNvSpPr/>
          <p:nvPr/>
        </p:nvSpPr>
        <p:spPr>
          <a:xfrm>
            <a:off x="704088" y="3154680"/>
            <a:ext cx="1001460" cy="320040"/>
          </a:xfrm>
          <a:prstGeom prst="rect">
            <a:avLst/>
          </a:prstGeom>
          <a:solidFill>
            <a:srgbClr val="A83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936654" y="3208778"/>
            <a:ext cx="1001460" cy="265942"/>
          </a:xfrm>
          <a:prstGeom prst="rect">
            <a:avLst/>
          </a:prstGeom>
          <a:solidFill>
            <a:srgbClr val="A83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169220" y="3385109"/>
            <a:ext cx="1001460" cy="89611"/>
          </a:xfrm>
          <a:prstGeom prst="rect">
            <a:avLst/>
          </a:prstGeom>
          <a:solidFill>
            <a:srgbClr val="A83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788920"/>
            <a:ext cx="3466592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83820"/>
                </a:solidFill>
                <a:latin typeface="Calibri"/>
              </a:rPr>
              <a:t>Ended lower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7840" y="1417320"/>
            <a:ext cx="3740912" cy="2377440"/>
          </a:xfrm>
          <a:prstGeom prst="roundRect">
            <a:avLst>
              <a:gd name="adj" fmla="val 8000"/>
            </a:avLst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7840" y="1417320"/>
            <a:ext cx="3740912" cy="36576"/>
          </a:xfrm>
          <a:prstGeom prst="rect">
            <a:avLst/>
          </a:prstGeom>
          <a:solidFill>
            <a:srgbClr val="A83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45000" y="1554480"/>
            <a:ext cx="3466592" cy="7315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C2422"/>
                </a:solidFill>
                <a:latin typeface="Calibri"/>
              </a:rPr>
              <a:t>99.8%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45000" y="2286000"/>
            <a:ext cx="3466592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C4A45"/>
                </a:solidFill>
                <a:latin typeface="Calibri"/>
              </a:rPr>
              <a:t>Monthly NRR (weighted)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8752" y="1417320"/>
            <a:ext cx="3576320" cy="2377440"/>
          </a:xfrm>
          <a:prstGeom prst="roundRect">
            <a:avLst>
              <a:gd name="adj" fmla="val 8000"/>
            </a:avLst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8752" y="1417320"/>
            <a:ext cx="3576320" cy="36576"/>
          </a:xfrm>
          <a:prstGeom prst="rect">
            <a:avLst/>
          </a:prstGeom>
          <a:solidFill>
            <a:srgbClr val="A83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5912" y="1554480"/>
            <a:ext cx="3302000" cy="7315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C2422"/>
                </a:solidFill>
                <a:latin typeface="Calibri"/>
              </a:rPr>
              <a:t>6,172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5912" y="2286000"/>
            <a:ext cx="33020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C4A45"/>
                </a:solidFill>
                <a:latin typeface="Calibri"/>
              </a:rPr>
              <a:t>Active subscriptions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931920"/>
            <a:ext cx="11058144" cy="1188720"/>
          </a:xfrm>
          <a:prstGeom prst="roundRect">
            <a:avLst>
              <a:gd name="adj" fmla="val 8000"/>
            </a:avLst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3931920"/>
            <a:ext cx="54864" cy="1188720"/>
          </a:xfrm>
          <a:prstGeom prst="rect">
            <a:avLst/>
          </a:prstGeom>
          <a:solidFill>
            <a:srgbClr val="A83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4023360"/>
            <a:ext cx="10646664" cy="10058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C2422"/>
                </a:solidFill>
                <a:latin typeface="Calibri"/>
              </a:rPr>
              <a:t>Weighted monthly churn was 2.4% over the review period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6437376"/>
            <a:ext cx="11058144" cy="9144"/>
          </a:xfrm>
          <a:prstGeom prst="rect">
            <a:avLst/>
          </a:prstGeom>
          <a:solidFill>
            <a:srgbClr val="C5D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6501384"/>
            <a:ext cx="10253472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C4A45"/>
                </a:solidFill>
                <a:latin typeface="Calibri"/>
              </a:rPr>
              <a:t>Sources   Monthly churn (weighted)   ·   Monthly NRR (weighted)   ·   Active subscriptions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84992" y="6483096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C2422"/>
                </a:solidFill>
                <a:latin typeface="Calibri"/>
              </a:rPr>
              <a:t>III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F0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1058144" cy="841248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0C2422"/>
                </a:solidFill>
                <a:latin typeface="Calibri"/>
              </a:rPr>
              <a:t>Monthly churn ended lower than it started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34440"/>
            <a:ext cx="11058144" cy="18288"/>
          </a:xfrm>
          <a:prstGeom prst="rect">
            <a:avLst/>
          </a:prstGeom>
          <a:solidFill>
            <a:srgbClr val="A83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1554480"/>
            <a:ext cx="11058144" cy="4791456"/>
          </a:xfrm>
          <a:prstGeom prst="roundRect">
            <a:avLst>
              <a:gd name="adj" fmla="val 4000"/>
            </a:avLst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04088" y="1691640"/>
          <a:ext cx="10783824" cy="451713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566928" y="6437376"/>
            <a:ext cx="11058144" cy="9144"/>
          </a:xfrm>
          <a:prstGeom prst="rect">
            <a:avLst/>
          </a:prstGeom>
          <a:solidFill>
            <a:srgbClr val="C5D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01384"/>
            <a:ext cx="10253472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C4A45"/>
                </a:solidFill>
                <a:latin typeface="Calibri"/>
              </a:rPr>
              <a:t>Sources   Monthly churn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84992" y="6483096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C2422"/>
                </a:solidFill>
                <a:latin typeface="Calibri"/>
              </a:rPr>
              <a:t>IV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F0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1058144" cy="841248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0C2422"/>
                </a:solidFill>
                <a:latin typeface="Calibri"/>
              </a:rPr>
              <a:t>Churn is highest in SMB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34440"/>
            <a:ext cx="11058144" cy="18288"/>
          </a:xfrm>
          <a:prstGeom prst="rect">
            <a:avLst/>
          </a:prstGeom>
          <a:solidFill>
            <a:srgbClr val="A83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1554480"/>
            <a:ext cx="11058144" cy="4791456"/>
          </a:xfrm>
          <a:prstGeom prst="roundRect">
            <a:avLst>
              <a:gd name="adj" fmla="val 4000"/>
            </a:avLst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04088" y="1691640"/>
          <a:ext cx="10783824" cy="451713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566928" y="6437376"/>
            <a:ext cx="11058144" cy="9144"/>
          </a:xfrm>
          <a:prstGeom prst="rect">
            <a:avLst/>
          </a:prstGeom>
          <a:solidFill>
            <a:srgbClr val="C5D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01384"/>
            <a:ext cx="10253472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C4A45"/>
                </a:solidFill>
                <a:latin typeface="Calibri"/>
              </a:rPr>
              <a:t>Sources   Weighted monthly churn by segment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84992" y="6483096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C2422"/>
                </a:solidFill>
                <a:latin typeface="Calibri"/>
              </a:rPr>
              <a:t>V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F0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1058144" cy="841248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0C2422"/>
                </a:solidFill>
                <a:latin typeface="Calibri"/>
              </a:rPr>
              <a:t>What this review covers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34440"/>
            <a:ext cx="11058144" cy="18288"/>
          </a:xfrm>
          <a:prstGeom prst="rect">
            <a:avLst/>
          </a:prstGeom>
          <a:solidFill>
            <a:srgbClr val="A83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6459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83820"/>
                </a:solidFill>
                <a:latin typeface="Calibri"/>
              </a:rPr>
              <a:t>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89888" y="1645920"/>
            <a:ext cx="10235184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C2422"/>
                </a:solidFill>
                <a:latin typeface="Calibri"/>
              </a:rPr>
              <a:t>The headline figures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2860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83820"/>
                </a:solidFill>
                <a:latin typeface="Calibri"/>
              </a:rPr>
              <a:t>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9888" y="2286000"/>
            <a:ext cx="10235184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C2422"/>
                </a:solidFill>
                <a:latin typeface="Calibri"/>
              </a:rPr>
              <a:t>The monthly path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92608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83820"/>
                </a:solidFill>
                <a:latin typeface="Calibri"/>
              </a:rPr>
              <a:t>III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9888" y="2926080"/>
            <a:ext cx="10235184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C2422"/>
                </a:solidFill>
                <a:latin typeface="Calibri"/>
              </a:rPr>
              <a:t>The segment split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56616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83820"/>
                </a:solidFill>
                <a:latin typeface="Calibri"/>
              </a:rPr>
              <a:t>IV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9888" y="3566160"/>
            <a:ext cx="10235184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C2422"/>
                </a:solidFill>
                <a:latin typeface="Calibri"/>
              </a:rPr>
              <a:t>The sources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6437376"/>
            <a:ext cx="11058144" cy="9144"/>
          </a:xfrm>
          <a:prstGeom prst="rect">
            <a:avLst/>
          </a:prstGeom>
          <a:solidFill>
            <a:srgbClr val="C5D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84992" y="6483096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C2422"/>
                </a:solidFill>
                <a:latin typeface="Calibri"/>
              </a:rPr>
              <a:t>VI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F0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1058144" cy="841248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0C2422"/>
                </a:solidFill>
                <a:latin typeface="Calibri"/>
              </a:rPr>
              <a:t>Two ways to read retention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34440"/>
            <a:ext cx="11058144" cy="18288"/>
          </a:xfrm>
          <a:prstGeom prst="rect">
            <a:avLst/>
          </a:prstGeom>
          <a:solidFill>
            <a:srgbClr val="A83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2967228"/>
            <a:ext cx="5611368" cy="1874520"/>
          </a:xfrm>
          <a:prstGeom prst="roundRect">
            <a:avLst>
              <a:gd name="adj" fmla="val 5000"/>
            </a:avLst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2967228"/>
            <a:ext cx="5611368" cy="502920"/>
          </a:xfrm>
          <a:prstGeom prst="rect">
            <a:avLst/>
          </a:prstGeom>
          <a:solidFill>
            <a:srgbClr val="A83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2967228"/>
            <a:ext cx="640080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E4F0EC"/>
                </a:solidFill>
                <a:latin typeface="Calibri"/>
              </a:rPr>
              <a:t>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4168" y="2967228"/>
            <a:ext cx="4651248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E4F0EC"/>
                </a:solidFill>
                <a:latin typeface="Calibri"/>
              </a:rPr>
              <a:t>The rate</a:t>
            </a:r>
          </a:p>
        </p:txBody>
      </p:sp>
      <p:sp>
        <p:nvSpPr>
          <p:cNvPr id="8" name="Oval 7"/>
          <p:cNvSpPr/>
          <p:nvPr/>
        </p:nvSpPr>
        <p:spPr>
          <a:xfrm>
            <a:off x="749808" y="3785616"/>
            <a:ext cx="54864" cy="54864"/>
          </a:xfrm>
          <a:prstGeom prst="ellipse">
            <a:avLst/>
          </a:prstGeom>
          <a:solidFill>
            <a:srgbClr val="A83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3470148"/>
            <a:ext cx="5154168" cy="685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C2422"/>
                </a:solidFill>
                <a:latin typeface="Calibri"/>
              </a:rPr>
              <a:t>Weighted monthly churn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4471416"/>
            <a:ext cx="54864" cy="54864"/>
          </a:xfrm>
          <a:prstGeom prst="ellipse">
            <a:avLst/>
          </a:prstGeom>
          <a:solidFill>
            <a:srgbClr val="A83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4155948"/>
            <a:ext cx="5154168" cy="685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C2422"/>
                </a:solidFill>
                <a:latin typeface="Calibri"/>
              </a:rPr>
              <a:t>Shows who left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8296" y="2967228"/>
            <a:ext cx="5446776" cy="1874520"/>
          </a:xfrm>
          <a:prstGeom prst="roundRect">
            <a:avLst>
              <a:gd name="adj" fmla="val 5000"/>
            </a:avLst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8296" y="2967228"/>
            <a:ext cx="5446776" cy="502920"/>
          </a:xfrm>
          <a:prstGeom prst="rect">
            <a:avLst/>
          </a:prstGeom>
          <a:solidFill>
            <a:srgbClr val="A83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15456" y="2967228"/>
            <a:ext cx="640080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E4F0EC"/>
                </a:solidFill>
                <a:latin typeface="Calibri"/>
              </a:rPr>
              <a:t>II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55536" y="2967228"/>
            <a:ext cx="4486656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E4F0EC"/>
                </a:solidFill>
                <a:latin typeface="Calibri"/>
              </a:rPr>
              <a:t>The base</a:t>
            </a:r>
          </a:p>
        </p:txBody>
      </p:sp>
      <p:sp>
        <p:nvSpPr>
          <p:cNvPr id="16" name="Oval 15"/>
          <p:cNvSpPr/>
          <p:nvPr/>
        </p:nvSpPr>
        <p:spPr>
          <a:xfrm>
            <a:off x="6361176" y="3785616"/>
            <a:ext cx="54864" cy="54864"/>
          </a:xfrm>
          <a:prstGeom prst="ellipse">
            <a:avLst/>
          </a:prstGeom>
          <a:solidFill>
            <a:srgbClr val="A83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8336" y="3470148"/>
            <a:ext cx="4989576" cy="685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C2422"/>
                </a:solidFill>
                <a:latin typeface="Calibri"/>
              </a:rPr>
              <a:t>Active subscriptions</a:t>
            </a:r>
          </a:p>
        </p:txBody>
      </p:sp>
      <p:sp>
        <p:nvSpPr>
          <p:cNvPr id="18" name="Oval 17"/>
          <p:cNvSpPr/>
          <p:nvPr/>
        </p:nvSpPr>
        <p:spPr>
          <a:xfrm>
            <a:off x="6361176" y="4471416"/>
            <a:ext cx="54864" cy="54864"/>
          </a:xfrm>
          <a:prstGeom prst="ellipse">
            <a:avLst/>
          </a:prstGeom>
          <a:solidFill>
            <a:srgbClr val="A83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8336" y="4155948"/>
            <a:ext cx="4989576" cy="685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C2422"/>
                </a:solidFill>
                <a:latin typeface="Calibri"/>
              </a:rPr>
              <a:t>Shows who remains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6437376"/>
            <a:ext cx="11058144" cy="9144"/>
          </a:xfrm>
          <a:prstGeom prst="rect">
            <a:avLst/>
          </a:prstGeom>
          <a:solidFill>
            <a:srgbClr val="C5D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84992" y="6483096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C2422"/>
                </a:solidFill>
                <a:latin typeface="Calibri"/>
              </a:rPr>
              <a:t>VII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F0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1058144" cy="841248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0C2422"/>
                </a:solidFill>
                <a:latin typeface="Calibri"/>
              </a:rPr>
              <a:t>How the review is sequenced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34440"/>
            <a:ext cx="11058144" cy="18288"/>
          </a:xfrm>
          <a:prstGeom prst="rect">
            <a:avLst/>
          </a:prstGeom>
          <a:solidFill>
            <a:srgbClr val="A83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3035808"/>
            <a:ext cx="11058144" cy="27432"/>
          </a:xfrm>
          <a:prstGeom prst="rect">
            <a:avLst/>
          </a:prstGeom>
          <a:solidFill>
            <a:srgbClr val="C5D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2807208"/>
            <a:ext cx="2641092" cy="2194560"/>
          </a:xfrm>
          <a:prstGeom prst="roundRect">
            <a:avLst>
              <a:gd name="adj" fmla="val 6000"/>
            </a:avLst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2990088"/>
            <a:ext cx="137160" cy="137160"/>
          </a:xfrm>
          <a:prstGeom prst="ellipse">
            <a:avLst/>
          </a:prstGeom>
          <a:solidFill>
            <a:srgbClr val="A83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944368"/>
            <a:ext cx="2138172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A83820"/>
                </a:solidFill>
                <a:latin typeface="Calibri"/>
              </a:rPr>
              <a:t>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6948" y="3401568"/>
            <a:ext cx="2321052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C2422"/>
                </a:solidFill>
                <a:latin typeface="Calibri"/>
              </a:rPr>
              <a:t>Headline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726948" y="4041648"/>
            <a:ext cx="365760" cy="27432"/>
          </a:xfrm>
          <a:prstGeom prst="rect">
            <a:avLst/>
          </a:prstGeom>
          <a:solidFill>
            <a:srgbClr val="A83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6948" y="4133088"/>
            <a:ext cx="2321052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C4A45"/>
                </a:solidFill>
                <a:latin typeface="Calibri"/>
              </a:rPr>
              <a:t>The figures that frame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C4A45"/>
                </a:solidFill>
                <a:latin typeface="Calibri"/>
              </a:rPr>
              <a:t>the review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72612" y="2807208"/>
            <a:ext cx="2641092" cy="2194560"/>
          </a:xfrm>
          <a:prstGeom prst="roundRect">
            <a:avLst>
              <a:gd name="adj" fmla="val 6000"/>
            </a:avLst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55492" y="2990088"/>
            <a:ext cx="137160" cy="137160"/>
          </a:xfrm>
          <a:prstGeom prst="ellipse">
            <a:avLst/>
          </a:prstGeom>
          <a:solidFill>
            <a:srgbClr val="A83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38372" y="2944368"/>
            <a:ext cx="2138172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A83820"/>
                </a:solidFill>
                <a:latin typeface="Calibri"/>
              </a:rPr>
              <a:t>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2632" y="3401568"/>
            <a:ext cx="2321052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C2422"/>
                </a:solidFill>
                <a:latin typeface="Calibri"/>
              </a:rPr>
              <a:t>Trend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32632" y="4041648"/>
            <a:ext cx="365760" cy="27432"/>
          </a:xfrm>
          <a:prstGeom prst="rect">
            <a:avLst/>
          </a:prstGeom>
          <a:solidFill>
            <a:srgbClr val="A83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2632" y="4133088"/>
            <a:ext cx="2321052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C4A45"/>
                </a:solidFill>
                <a:latin typeface="Calibri"/>
              </a:rPr>
              <a:t>The monthly path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8296" y="2807208"/>
            <a:ext cx="2641092" cy="2194560"/>
          </a:xfrm>
          <a:prstGeom prst="roundRect">
            <a:avLst>
              <a:gd name="adj" fmla="val 6000"/>
            </a:avLst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61176" y="2990088"/>
            <a:ext cx="137160" cy="137160"/>
          </a:xfrm>
          <a:prstGeom prst="ellipse">
            <a:avLst/>
          </a:prstGeom>
          <a:solidFill>
            <a:srgbClr val="A83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44056" y="2944368"/>
            <a:ext cx="2138172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A83820"/>
                </a:solidFill>
                <a:latin typeface="Calibri"/>
              </a:rPr>
              <a:t>III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8316" y="3401568"/>
            <a:ext cx="2321052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C2422"/>
                </a:solidFill>
                <a:latin typeface="Calibri"/>
              </a:rPr>
              <a:t>Segments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38316" y="4041648"/>
            <a:ext cx="365760" cy="27432"/>
          </a:xfrm>
          <a:prstGeom prst="rect">
            <a:avLst/>
          </a:prstGeom>
          <a:solidFill>
            <a:srgbClr val="A83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38316" y="4133088"/>
            <a:ext cx="2321052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C4A45"/>
                </a:solidFill>
                <a:latin typeface="Calibri"/>
              </a:rPr>
              <a:t>Where churn sits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3980" y="2807208"/>
            <a:ext cx="2641092" cy="2194560"/>
          </a:xfrm>
          <a:prstGeom prst="roundRect">
            <a:avLst>
              <a:gd name="adj" fmla="val 6000"/>
            </a:avLst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66860" y="2990088"/>
            <a:ext cx="137160" cy="137160"/>
          </a:xfrm>
          <a:prstGeom prst="ellipse">
            <a:avLst/>
          </a:prstGeom>
          <a:solidFill>
            <a:srgbClr val="A83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49740" y="2944368"/>
            <a:ext cx="2138172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A83820"/>
                </a:solidFill>
                <a:latin typeface="Calibri"/>
              </a:rPr>
              <a:t>IV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3401568"/>
            <a:ext cx="2321052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C2422"/>
                </a:solidFill>
                <a:latin typeface="Calibri"/>
              </a:rPr>
              <a:t>Sources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0" y="4041648"/>
            <a:ext cx="365760" cy="27432"/>
          </a:xfrm>
          <a:prstGeom prst="rect">
            <a:avLst/>
          </a:prstGeom>
          <a:solidFill>
            <a:srgbClr val="A83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0" y="4133088"/>
            <a:ext cx="2321052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C4A45"/>
                </a:solidFill>
                <a:latin typeface="Calibri"/>
              </a:rPr>
              <a:t>How to trace a figure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6437376"/>
            <a:ext cx="11058144" cy="9144"/>
          </a:xfrm>
          <a:prstGeom prst="rect">
            <a:avLst/>
          </a:prstGeom>
          <a:solidFill>
            <a:srgbClr val="C5D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84992" y="6483096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C2422"/>
                </a:solidFill>
                <a:latin typeface="Calibri"/>
              </a:rPr>
              <a:t>VIII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F0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1058144" cy="841248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0C2422"/>
                </a:solidFill>
                <a:latin typeface="Calibri"/>
              </a:rPr>
              <a:t>The point of the review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34440"/>
            <a:ext cx="11058144" cy="18288"/>
          </a:xfrm>
          <a:prstGeom prst="rect">
            <a:avLst/>
          </a:prstGeom>
          <a:solidFill>
            <a:srgbClr val="A83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1463040"/>
            <a:ext cx="11058144" cy="4882896"/>
          </a:xfrm>
          <a:prstGeom prst="roundRect">
            <a:avLst>
              <a:gd name="adj" fmla="val 4000"/>
            </a:avLst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463040"/>
            <a:ext cx="91440" cy="4882896"/>
          </a:xfrm>
          <a:prstGeom prst="rect">
            <a:avLst/>
          </a:prstGeom>
          <a:solidFill>
            <a:srgbClr val="A83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554480"/>
            <a:ext cx="91440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0">
                <a:solidFill>
                  <a:srgbClr val="A83820"/>
                </a:solidFill>
                <a:latin typeface="Calibri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377440"/>
            <a:ext cx="10418064" cy="24414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>
                <a:solidFill>
                  <a:srgbClr val="0C2422"/>
                </a:solidFill>
                <a:latin typeface="Calibri"/>
              </a:rPr>
              <a:t>A retention review is a story about who stays.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86968" y="5705856"/>
            <a:ext cx="365760" cy="27432"/>
          </a:xfrm>
          <a:prstGeom prst="rect">
            <a:avLst/>
          </a:prstGeom>
          <a:solidFill>
            <a:srgbClr val="A83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4168" y="5614416"/>
            <a:ext cx="9960864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C4A45"/>
                </a:solidFill>
                <a:latin typeface="Calibri"/>
              </a:rPr>
              <a:t>Review note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6437376"/>
            <a:ext cx="11058144" cy="9144"/>
          </a:xfrm>
          <a:prstGeom prst="rect">
            <a:avLst/>
          </a:prstGeom>
          <a:solidFill>
            <a:srgbClr val="C5D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84992" y="6483096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C2422"/>
                </a:solidFill>
                <a:latin typeface="Calibri"/>
              </a:rPr>
              <a:t>IX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F0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1058144" cy="841248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0C2422"/>
                </a:solidFill>
                <a:latin typeface="Calibri"/>
              </a:rPr>
              <a:t>The story in two parts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34440"/>
            <a:ext cx="11058144" cy="18288"/>
          </a:xfrm>
          <a:prstGeom prst="rect">
            <a:avLst/>
          </a:prstGeom>
          <a:solidFill>
            <a:srgbClr val="A83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2967228"/>
            <a:ext cx="5611368" cy="1874520"/>
          </a:xfrm>
          <a:prstGeom prst="roundRect">
            <a:avLst>
              <a:gd name="adj" fmla="val 5000"/>
            </a:avLst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2967228"/>
            <a:ext cx="5611368" cy="502920"/>
          </a:xfrm>
          <a:prstGeom prst="rect">
            <a:avLst/>
          </a:prstGeom>
          <a:solidFill>
            <a:srgbClr val="A83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2967228"/>
            <a:ext cx="5245608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E4F0EC"/>
                </a:solidFill>
                <a:latin typeface="Calibri"/>
              </a:rPr>
              <a:t>The path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3785616"/>
            <a:ext cx="54864" cy="54864"/>
          </a:xfrm>
          <a:prstGeom prst="ellipse">
            <a:avLst/>
          </a:prstGeom>
          <a:solidFill>
            <a:srgbClr val="A83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3470148"/>
            <a:ext cx="5154168" cy="685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C2422"/>
                </a:solidFill>
                <a:latin typeface="Calibri"/>
              </a:rPr>
              <a:t>The monthly path shows the shape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4471416"/>
            <a:ext cx="54864" cy="54864"/>
          </a:xfrm>
          <a:prstGeom prst="ellipse">
            <a:avLst/>
          </a:prstGeom>
          <a:solidFill>
            <a:srgbClr val="A83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4155948"/>
            <a:ext cx="5154168" cy="685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C2422"/>
                </a:solidFill>
                <a:latin typeface="Calibri"/>
              </a:rPr>
              <a:t>The segment split shows where it sits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8296" y="2967228"/>
            <a:ext cx="5446776" cy="1874520"/>
          </a:xfrm>
          <a:prstGeom prst="roundRect">
            <a:avLst>
              <a:gd name="adj" fmla="val 5000"/>
            </a:avLst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8296" y="2967228"/>
            <a:ext cx="5446776" cy="502920"/>
          </a:xfrm>
          <a:prstGeom prst="rect">
            <a:avLst/>
          </a:prstGeom>
          <a:solidFill>
            <a:srgbClr val="A83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61176" y="2967228"/>
            <a:ext cx="5081016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E4F0EC"/>
                </a:solidFill>
                <a:latin typeface="Calibri"/>
              </a:rPr>
              <a:t>The split</a:t>
            </a:r>
          </a:p>
        </p:txBody>
      </p:sp>
      <p:sp>
        <p:nvSpPr>
          <p:cNvPr id="14" name="Oval 13"/>
          <p:cNvSpPr/>
          <p:nvPr/>
        </p:nvSpPr>
        <p:spPr>
          <a:xfrm>
            <a:off x="6361176" y="3785616"/>
            <a:ext cx="54864" cy="54864"/>
          </a:xfrm>
          <a:prstGeom prst="ellipse">
            <a:avLst/>
          </a:prstGeom>
          <a:solidFill>
            <a:srgbClr val="A83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8336" y="3470148"/>
            <a:ext cx="4989576" cy="685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C2422"/>
                </a:solidFill>
                <a:latin typeface="Calibri"/>
              </a:rPr>
              <a:t>The headline figures frame both</a:t>
            </a:r>
          </a:p>
        </p:txBody>
      </p:sp>
      <p:sp>
        <p:nvSpPr>
          <p:cNvPr id="16" name="Oval 15"/>
          <p:cNvSpPr/>
          <p:nvPr/>
        </p:nvSpPr>
        <p:spPr>
          <a:xfrm>
            <a:off x="6361176" y="4471416"/>
            <a:ext cx="54864" cy="54864"/>
          </a:xfrm>
          <a:prstGeom prst="ellipse">
            <a:avLst/>
          </a:prstGeom>
          <a:solidFill>
            <a:srgbClr val="A83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8336" y="4155948"/>
            <a:ext cx="4989576" cy="685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C2422"/>
                </a:solidFill>
                <a:latin typeface="Calibri"/>
              </a:rPr>
              <a:t>The sources trace every figure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6437376"/>
            <a:ext cx="11058144" cy="9144"/>
          </a:xfrm>
          <a:prstGeom prst="rect">
            <a:avLst/>
          </a:prstGeom>
          <a:solidFill>
            <a:srgbClr val="C5D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84992" y="6483096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C2422"/>
                </a:solidFill>
                <a:latin typeface="Calibri"/>
              </a:rPr>
              <a:t>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F0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1058144" cy="841248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0C2422"/>
                </a:solidFill>
                <a:latin typeface="Calibri"/>
              </a:rPr>
              <a:t>Churn is highest in SMB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34440"/>
            <a:ext cx="11058144" cy="18288"/>
          </a:xfrm>
          <a:prstGeom prst="rect">
            <a:avLst/>
          </a:prstGeom>
          <a:solidFill>
            <a:srgbClr val="A83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463040"/>
            <a:ext cx="11058144" cy="1220724"/>
          </a:xfrm>
          <a:prstGeom prst="rect">
            <a:avLst/>
          </a:prstGeom>
          <a:solidFill>
            <a:srgbClr val="A83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463040"/>
            <a:ext cx="2959120" cy="12207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4F0EC"/>
                </a:solidFill>
                <a:latin typeface="Calibri"/>
              </a:rPr>
              <a:t>Segment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63208" y="1463040"/>
            <a:ext cx="7870424" cy="12207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4F0EC"/>
                </a:solidFill>
                <a:latin typeface="Calibri"/>
              </a:rPr>
              <a:t>Weighted churn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683764"/>
            <a:ext cx="11058144" cy="1220724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2683764"/>
            <a:ext cx="2959120" cy="12207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C2422"/>
                </a:solidFill>
                <a:latin typeface="Calibri"/>
              </a:rPr>
              <a:t>Enterprise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63208" y="2683764"/>
            <a:ext cx="7870424" cy="12207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C2422"/>
                </a:solidFill>
                <a:latin typeface="Calibri"/>
              </a:rPr>
              <a:t>0.5%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904488"/>
            <a:ext cx="2959120" cy="12207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C2422"/>
                </a:solidFill>
                <a:latin typeface="Calibri"/>
              </a:rPr>
              <a:t>Mid-market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63208" y="3904488"/>
            <a:ext cx="7870424" cy="12207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C2422"/>
                </a:solidFill>
                <a:latin typeface="Calibri"/>
              </a:rPr>
              <a:t>1.7%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5125212"/>
            <a:ext cx="11058144" cy="1220724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5125212"/>
            <a:ext cx="2959120" cy="12207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C2422"/>
                </a:solidFill>
                <a:latin typeface="Calibri"/>
              </a:rPr>
              <a:t>SMB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63208" y="5125212"/>
            <a:ext cx="7870424" cy="12207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C2422"/>
                </a:solidFill>
                <a:latin typeface="Calibri"/>
              </a:rPr>
              <a:t>3.2%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6437376"/>
            <a:ext cx="11058144" cy="9144"/>
          </a:xfrm>
          <a:prstGeom prst="rect">
            <a:avLst/>
          </a:prstGeom>
          <a:solidFill>
            <a:srgbClr val="C5D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6501384"/>
            <a:ext cx="10253472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C4A45"/>
                </a:solidFill>
                <a:latin typeface="Calibri"/>
              </a:rPr>
              <a:t>Sources   Weighted monthly churn by segment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84992" y="6483096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C2422"/>
                </a:solidFill>
                <a:latin typeface="Calibri"/>
              </a:rPr>
              <a:t>XI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F0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1058144" cy="841248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0C2422"/>
                </a:solidFill>
                <a:latin typeface="Calibri"/>
              </a:rPr>
              <a:t>Three readings of retention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34440"/>
            <a:ext cx="11058144" cy="18288"/>
          </a:xfrm>
          <a:prstGeom prst="rect">
            <a:avLst/>
          </a:prstGeom>
          <a:solidFill>
            <a:srgbClr val="A83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2852928"/>
            <a:ext cx="3740912" cy="2103120"/>
          </a:xfrm>
          <a:prstGeom prst="roundRect">
            <a:avLst>
              <a:gd name="adj" fmla="val 5000"/>
            </a:avLst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2852928"/>
            <a:ext cx="3740912" cy="45720"/>
          </a:xfrm>
          <a:prstGeom prst="rect">
            <a:avLst/>
          </a:prstGeom>
          <a:solidFill>
            <a:srgbClr val="A83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2990088"/>
            <a:ext cx="3375152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A83820"/>
                </a:solidFill>
                <a:latin typeface="Calibri"/>
              </a:rPr>
              <a:t>I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8" y="3904488"/>
            <a:ext cx="457200" cy="27432"/>
          </a:xfrm>
          <a:prstGeom prst="rect">
            <a:avLst/>
          </a:prstGeom>
          <a:solidFill>
            <a:srgbClr val="A83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3995928"/>
            <a:ext cx="3375152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C2422"/>
                </a:solidFill>
                <a:latin typeface="Calibri"/>
              </a:rPr>
              <a:t>The headline figures frame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C2422"/>
                </a:solidFill>
                <a:latin typeface="Calibri"/>
              </a:rPr>
              <a:t>the review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07840" y="2852928"/>
            <a:ext cx="3740912" cy="2103120"/>
          </a:xfrm>
          <a:prstGeom prst="roundRect">
            <a:avLst>
              <a:gd name="adj" fmla="val 5000"/>
            </a:avLst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07840" y="2852928"/>
            <a:ext cx="3740912" cy="45720"/>
          </a:xfrm>
          <a:prstGeom prst="rect">
            <a:avLst/>
          </a:prstGeom>
          <a:solidFill>
            <a:srgbClr val="A83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90720" y="2990088"/>
            <a:ext cx="3375152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A83820"/>
                </a:solidFill>
                <a:latin typeface="Calibri"/>
              </a:rPr>
              <a:t>II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90720" y="3904488"/>
            <a:ext cx="457200" cy="27432"/>
          </a:xfrm>
          <a:prstGeom prst="rect">
            <a:avLst/>
          </a:prstGeom>
          <a:solidFill>
            <a:srgbClr val="A83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0720" y="3995928"/>
            <a:ext cx="3375152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C2422"/>
                </a:solidFill>
                <a:latin typeface="Calibri"/>
              </a:rPr>
              <a:t>The monthly path shows the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C2422"/>
                </a:solidFill>
                <a:latin typeface="Calibri"/>
              </a:rPr>
              <a:t>direction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8752" y="2852928"/>
            <a:ext cx="3576320" cy="2103120"/>
          </a:xfrm>
          <a:prstGeom prst="roundRect">
            <a:avLst>
              <a:gd name="adj" fmla="val 5000"/>
            </a:avLst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8752" y="2852928"/>
            <a:ext cx="3576320" cy="45720"/>
          </a:xfrm>
          <a:prstGeom prst="rect">
            <a:avLst/>
          </a:prstGeom>
          <a:solidFill>
            <a:srgbClr val="A83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31632" y="2990088"/>
            <a:ext cx="321056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A83820"/>
                </a:solidFill>
                <a:latin typeface="Calibri"/>
              </a:rPr>
              <a:t>III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31632" y="3904488"/>
            <a:ext cx="457200" cy="27432"/>
          </a:xfrm>
          <a:prstGeom prst="rect">
            <a:avLst/>
          </a:prstGeom>
          <a:solidFill>
            <a:srgbClr val="A83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31632" y="3995928"/>
            <a:ext cx="321056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C2422"/>
                </a:solidFill>
                <a:latin typeface="Calibri"/>
              </a:rPr>
              <a:t>The segment split shows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C2422"/>
                </a:solidFill>
                <a:latin typeface="Calibri"/>
              </a:rPr>
              <a:t>where it sits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6437376"/>
            <a:ext cx="11058144" cy="9144"/>
          </a:xfrm>
          <a:prstGeom prst="rect">
            <a:avLst/>
          </a:prstGeom>
          <a:solidFill>
            <a:srgbClr val="C5D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84992" y="6483096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C2422"/>
                </a:solidFill>
                <a:latin typeface="Calibri"/>
              </a:rPr>
              <a:t>XII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F0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1058144" cy="841248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0C2422"/>
                </a:solidFill>
                <a:latin typeface="Calibri"/>
              </a:rPr>
              <a:t>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34440"/>
            <a:ext cx="11058144" cy="18288"/>
          </a:xfrm>
          <a:prstGeom prst="rect">
            <a:avLst/>
          </a:prstGeom>
          <a:solidFill>
            <a:srgbClr val="A83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2322576"/>
            <a:ext cx="11058144" cy="9144"/>
          </a:xfrm>
          <a:prstGeom prst="rect">
            <a:avLst/>
          </a:prstGeom>
          <a:solidFill>
            <a:srgbClr val="C5D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600200"/>
            <a:ext cx="914400" cy="7040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A83820"/>
                </a:solidFill>
                <a:latin typeface="Calibri"/>
              </a:rPr>
              <a:t>f1 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2768" y="1600200"/>
            <a:ext cx="3980931" cy="7040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C2422"/>
                </a:solidFill>
                <a:latin typeface="Calibri"/>
              </a:rPr>
              <a:t>Monthly churn (weighted)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53699" y="1600200"/>
            <a:ext cx="6071373" cy="7040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C4A45"/>
                </a:solidFill>
                <a:latin typeface="Calibri"/>
              </a:rPr>
              <a:t>churn_rate_quarter    main.cs.churn_monthly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3054096"/>
            <a:ext cx="11058144" cy="9144"/>
          </a:xfrm>
          <a:prstGeom prst="rect">
            <a:avLst/>
          </a:prstGeom>
          <a:solidFill>
            <a:srgbClr val="C5D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331720"/>
            <a:ext cx="914400" cy="7040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A83820"/>
                </a:solidFill>
                <a:latin typeface="Calibri"/>
              </a:rPr>
              <a:t>f2 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2331720"/>
            <a:ext cx="3980931" cy="7040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C2422"/>
                </a:solidFill>
                <a:latin typeface="Calibri"/>
              </a:rPr>
              <a:t>Monthly NRR (weighted)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53699" y="2331720"/>
            <a:ext cx="6071373" cy="7040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C4A45"/>
                </a:solidFill>
                <a:latin typeface="Calibri"/>
              </a:rPr>
              <a:t>nrr_quarter    main.cs.revenue_monthly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785616"/>
            <a:ext cx="11058144" cy="9144"/>
          </a:xfrm>
          <a:prstGeom prst="rect">
            <a:avLst/>
          </a:prstGeom>
          <a:solidFill>
            <a:srgbClr val="C5D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3063240"/>
            <a:ext cx="914400" cy="7040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A83820"/>
                </a:solidFill>
                <a:latin typeface="Calibri"/>
              </a:rPr>
              <a:t>f3 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2768" y="3063240"/>
            <a:ext cx="3980931" cy="7040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C2422"/>
                </a:solidFill>
                <a:latin typeface="Calibri"/>
              </a:rPr>
              <a:t>Active subscriptions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53699" y="3063240"/>
            <a:ext cx="6071373" cy="7040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C4A45"/>
                </a:solidFill>
                <a:latin typeface="Calibri"/>
              </a:rPr>
              <a:t>active_subscriptions    main.cs.churn_monthly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4517136"/>
            <a:ext cx="11058144" cy="9144"/>
          </a:xfrm>
          <a:prstGeom prst="rect">
            <a:avLst/>
          </a:prstGeom>
          <a:solidFill>
            <a:srgbClr val="C5D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794760"/>
            <a:ext cx="914400" cy="7040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A83820"/>
                </a:solidFill>
                <a:latin typeface="Calibri"/>
              </a:rPr>
              <a:t>f4 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2768" y="3794760"/>
            <a:ext cx="3980931" cy="7040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C2422"/>
                </a:solidFill>
                <a:latin typeface="Calibri"/>
              </a:rPr>
              <a:t>Monthly churn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53699" y="3794760"/>
            <a:ext cx="6071373" cy="7040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C4A45"/>
                </a:solidFill>
                <a:latin typeface="Calibri"/>
              </a:rPr>
              <a:t>churn_trend_monthly    main.cs.churn_monthly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5248656"/>
            <a:ext cx="11058144" cy="9144"/>
          </a:xfrm>
          <a:prstGeom prst="rect">
            <a:avLst/>
          </a:prstGeom>
          <a:solidFill>
            <a:srgbClr val="C5D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4526280"/>
            <a:ext cx="914400" cy="7040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A83820"/>
                </a:solidFill>
                <a:latin typeface="Calibri"/>
              </a:rPr>
              <a:t>f5 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4526280"/>
            <a:ext cx="3980931" cy="7040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C2422"/>
                </a:solidFill>
                <a:latin typeface="Calibri"/>
              </a:rPr>
              <a:t>Weighted monthly churn by segment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53699" y="4526280"/>
            <a:ext cx="6071373" cy="7040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C4A45"/>
                </a:solidFill>
                <a:latin typeface="Calibri"/>
              </a:rPr>
              <a:t>churn_by_segment    main.cs.churn_monthly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437376"/>
            <a:ext cx="11058144" cy="9144"/>
          </a:xfrm>
          <a:prstGeom prst="rect">
            <a:avLst/>
          </a:prstGeom>
          <a:solidFill>
            <a:srgbClr val="C5D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84992" y="6483096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C2422"/>
                </a:solidFill>
                <a:latin typeface="Calibri"/>
              </a:rPr>
              <a:t>XIII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retention review</dc:title>
  <dc:subject>run_id=f5564d6297ce4dd88c4941723d774ec9</dc:subject>
  <dc:creator>DeckSmith</dc:creator>
  <cp:keywords>corp_default@1.0</cp:keywords>
  <dc:description>generated using python-pptx</dc:description>
  <cp:lastModifiedBy>Steve Canny</cp:lastModifiedBy>
  <cp:revision>1</cp:revision>
  <dcterms:created xsi:type="dcterms:W3CDTF">2026-01-01T00:00:00Z</dcterms:created>
  <dcterms:modified xsi:type="dcterms:W3CDTF">2026-01-01T00:00:00Z</dcterms:modified>
  <cp:category>harbor</cp:category>
</cp:coreProperties>
</file>