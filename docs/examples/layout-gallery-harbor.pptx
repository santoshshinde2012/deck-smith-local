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churn</c:v>
                </c:pt>
              </c:strCache>
            </c:strRef>
          </c:tx>
          <c:spPr>
            <a:ln w="28575">
              <a:solidFill>
                <a:srgbClr val="062824"/>
              </a:solidFill>
            </a:ln>
          </c:spPr>
          <c:marker>
            <c:symbol val="circle"/>
            <c:size val="8"/>
            <c:spPr>
              <a:solidFill>
                <a:srgbClr val="062824"/>
              </a:solidFill>
              <a:ln>
                <a:noFill/>
              </a:ln>
            </c:spPr>
          </c:marker>
          <c:dPt>
            <c:idx val="0"/>
            <c:marker>
              <c:spPr>
                <a:solidFill>
                  <a:srgbClr val="062824"/>
                </a:solidFill>
                <a:ln>
                  <a:noFill/>
                </a:ln>
              </c:spPr>
            </c:marker>
          </c:dPt>
          <c:dPt>
            <c:idx val="1"/>
            <c:marker>
              <c:spPr>
                <a:solidFill>
                  <a:srgbClr val="062824"/>
                </a:solidFill>
                <a:ln>
                  <a:noFill/>
                </a:ln>
              </c:spPr>
            </c:marker>
          </c:dPt>
          <c:dPt>
            <c:idx val="2"/>
            <c:marker>
              <c:spPr>
                <a:solidFill>
                  <a:srgbClr val="A83820"/>
                </a:solidFill>
                <a:ln>
                  <a:noFill/>
                </a:ln>
              </c:spPr>
            </c:marke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0C2422"/>
                      </a:solidFill>
                      <a:latin typeface="Calibri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0C2422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A83820"/>
                      </a:solidFill>
                      <a:latin typeface="Calibri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0.024465327284510695</c:v>
                </c:pt>
                <c:pt idx="1">
                  <c:v>0.023969319271332695</c:v>
                </c:pt>
                <c:pt idx="2">
                  <c:v>0.022352568167406467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0C2422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5DDD6"/>
            </a:solidFill>
          </a:ln>
        </c:spPr>
        <c:txPr>
          <a:bodyPr/>
          <a:lstStyle/>
          <a:p>
            <a:pPr>
              <a:defRPr sz="1200">
                <a:solidFill>
                  <a:srgbClr val="0C242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25838620710628445"/>
          <c:min val="0.02055672291786787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monthly churn by segment</c:v>
                </c:pt>
              </c:strCache>
            </c:strRef>
          </c:tx>
          <c:spPr>
            <a:solidFill>
              <a:srgbClr val="062824"/>
            </a:solidFill>
            <a:ln>
              <a:noFill/>
            </a:ln>
          </c:spPr>
          <c:dPt>
            <c:idx val="0"/>
            <c:spPr>
              <a:solidFill>
                <a:srgbClr val="062824"/>
              </a:solidFill>
              <a:ln>
                <a:noFill/>
              </a:ln>
            </c:spPr>
          </c:dPt>
          <c:dPt>
            <c:idx val="1"/>
            <c:spPr>
              <a:solidFill>
                <a:srgbClr val="062824"/>
              </a:solidFill>
              <a:ln>
                <a:noFill/>
              </a:ln>
            </c:spPr>
          </c:dPt>
          <c:dPt>
            <c:idx val="2"/>
            <c:spPr>
              <a:solidFill>
                <a:srgbClr val="A83820"/>
              </a:solidFill>
              <a:ln>
                <a:noFill/>
              </a:ln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0C2422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0C2422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A83820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0.005371530886302597</c:v>
                </c:pt>
                <c:pt idx="1">
                  <c:v>0.01675257731958763</c:v>
                </c:pt>
                <c:pt idx="2">
                  <c:v>0.031662781662781664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0C2422"/>
                  </a:solidFill>
                  <a:latin typeface="Calibri"/>
                </a:defRPr>
              </a:pPr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5DDD6"/>
            </a:solidFill>
          </a:ln>
        </c:spPr>
        <c:txPr>
          <a:bodyPr/>
          <a:lstStyle/>
          <a:p>
            <a:pPr>
              <a:defRPr sz="1200">
                <a:solidFill>
                  <a:srgbClr val="0C24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4052836052836053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duckdb-50896169e99d · queried 2026-10-18 07:47 UTC</a:t>
            </a:r>
          </a:p>
          <a:p>
            <a:r>
              <a:t>f2 · Monthly NRR (weighted) · nrr_quarter · main.cs.revenue_monthly · statement duckdb-3865cda2e3c8 · queried 2026-10-18 07:47 UTC</a:t>
            </a:r>
          </a:p>
          <a:p>
            <a:r>
              <a:t>f3 · Active subscriptions · active_subscriptions · main.cs.churn_monthly · statement duckdb-f3a97504c567 · queried 2026-10-18 07:47 UTC</a:t>
            </a:r>
          </a:p>
          <a:p>
            <a:r>
              <a:t>f4 · Monthly churn · churn_trend_monthly · main.cs.churn_monthly · statement duckdb-58f638eb7270 · queried 2026-10-18 07:47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 · Monthly churn · churn_trend_monthly · main.cs.churn_monthly · statement duckdb-58f638eb7270 · queried 2026-10-18 07:47 UTC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duckdb-12fe383979d3 · queried 2026-10-18 07:47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duckdb-12fe383979d3 · queried 2026-10-18 07:47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duckdb-50896169e99d · queried 2026-10-18 07:47 UTC</a:t>
            </a:r>
          </a:p>
          <a:p>
            <a:r>
              <a:t>f2 · Monthly NRR (weighted) · nrr_quarter · main.cs.revenue_monthly · statement duckdb-3865cda2e3c8 · queried 2026-10-18 07:47 UTC</a:t>
            </a:r>
          </a:p>
          <a:p>
            <a:r>
              <a:t>f3 · Active subscriptions · active_subscriptions · main.cs.churn_monthly · statement duckdb-f3a97504c567 · queried 2026-10-18 07:47 UTC</a:t>
            </a:r>
          </a:p>
          <a:p>
            <a:r>
              <a:t>f4 · Monthly churn · churn_trend_monthly · main.cs.churn_monthly · statement duckdb-58f638eb7270 · queried 2026-10-18 07:47 UTC</a:t>
            </a:r>
          </a:p>
          <a:p>
            <a:r>
              <a:t>f5 · Weighted monthly churn by segment · churn_by_segment · main.cs.churn_monthly · statement duckdb-12fe383979d3 · queried 2026-10-18 07:47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977639"/>
            <a:ext cx="12192000" cy="36576"/>
          </a:xfrm>
          <a:prstGeom prst="rect">
            <a:avLst/>
          </a:prstGeom>
          <a:solidFill>
            <a:srgbClr val="E4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83073"/>
            <a:ext cx="807720" cy="962863"/>
          </a:xfrm>
          <a:prstGeom prst="rect">
            <a:avLst/>
          </a:prstGeom>
          <a:solidFill>
            <a:srgbClr val="E4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29512" y="4805355"/>
            <a:ext cx="807720" cy="1540581"/>
          </a:xfrm>
          <a:prstGeom prst="rect">
            <a:avLst/>
          </a:prstGeom>
          <a:solidFill>
            <a:srgbClr val="D7E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92096" y="5532852"/>
            <a:ext cx="807720" cy="813084"/>
          </a:xfrm>
          <a:prstGeom prst="rect">
            <a:avLst/>
          </a:prstGeom>
          <a:solidFill>
            <a:srgbClr val="B7C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54680" y="4420209"/>
            <a:ext cx="807720" cy="1925727"/>
          </a:xfrm>
          <a:prstGeom prst="rect">
            <a:avLst/>
          </a:prstGeom>
          <a:solidFill>
            <a:srgbClr val="E4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17264" y="5104912"/>
            <a:ext cx="807720" cy="1241024"/>
          </a:xfrm>
          <a:prstGeom prst="rect">
            <a:avLst/>
          </a:prstGeom>
          <a:solidFill>
            <a:srgbClr val="D7E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9848" y="4634179"/>
            <a:ext cx="807720" cy="1711757"/>
          </a:xfrm>
          <a:prstGeom prst="rect">
            <a:avLst/>
          </a:prstGeom>
          <a:solidFill>
            <a:srgbClr val="B7C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097280"/>
            <a:ext cx="6992112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>
                <a:solidFill>
                  <a:srgbClr val="E4F0EC"/>
                </a:solidFill>
                <a:latin typeface="Calibri"/>
              </a:rPr>
              <a:t>Customer retention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>
                <a:solidFill>
                  <a:srgbClr val="E4F0EC"/>
                </a:solidFill>
                <a:latin typeface="Calibri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17520"/>
            <a:ext cx="699211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CDC6"/>
                </a:solidFill>
                <a:latin typeface="Calibri"/>
              </a:rPr>
              <a:t>Prepared for the board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669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7CDC6"/>
                </a:solidFill>
                <a:latin typeface="Calibri"/>
              </a:rPr>
              <a:t>DeckSmith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4992" y="646480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4F0EC"/>
                </a:solidFill>
                <a:latin typeface="Calibri"/>
              </a:rPr>
              <a:t>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2468880"/>
            <a:ext cx="36576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0"/>
            <a:ext cx="8417052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E4F0EC"/>
                </a:solidFill>
                <a:latin typeface="Calibri"/>
              </a:rPr>
              <a:t>The retention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97680"/>
            <a:ext cx="841705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CDC6"/>
                </a:solidFill>
                <a:latin typeface="Calibri"/>
              </a:rPr>
              <a:t>For the board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4F0EC"/>
                </a:solidFill>
                <a:latin typeface="Calibri"/>
              </a:rPr>
              <a:t>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Where retention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3740912" cy="36576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C2422"/>
                </a:solidFill>
                <a:latin typeface="Calibri"/>
              </a:rPr>
              <a:t>2.4%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C4A45"/>
                </a:solidFill>
                <a:latin typeface="Calibri"/>
              </a:rPr>
              <a:t>Monthly churn (weighted)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54680"/>
            <a:ext cx="1001460" cy="320040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36654" y="3208778"/>
            <a:ext cx="1001460" cy="26594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69220" y="3385109"/>
            <a:ext cx="1001460" cy="89611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788920"/>
            <a:ext cx="34665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3820"/>
                </a:solidFill>
                <a:latin typeface="Calibri"/>
              </a:rPr>
              <a:t>Ended lower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840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840" y="1417320"/>
            <a:ext cx="3740912" cy="36576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5000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C2422"/>
                </a:solidFill>
                <a:latin typeface="Calibri"/>
              </a:rPr>
              <a:t>99.8%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C4A45"/>
                </a:solidFill>
                <a:latin typeface="Calibri"/>
              </a:rPr>
              <a:t>Monthly NRR (weighted)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752" y="1417320"/>
            <a:ext cx="3576320" cy="2377440"/>
          </a:xfrm>
          <a:prstGeom prst="roundRect">
            <a:avLst>
              <a:gd name="adj" fmla="val 8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8752" y="1417320"/>
            <a:ext cx="3576320" cy="36576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912" y="1554480"/>
            <a:ext cx="330200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C2422"/>
                </a:solidFill>
                <a:latin typeface="Calibri"/>
              </a:rPr>
              <a:t>6,172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912" y="2286000"/>
            <a:ext cx="330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C4A45"/>
                </a:solidFill>
                <a:latin typeface="Calibri"/>
              </a:rPr>
              <a:t>Active subscriptions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931920"/>
            <a:ext cx="11058144" cy="1188720"/>
          </a:xfrm>
          <a:prstGeom prst="roundRect">
            <a:avLst>
              <a:gd name="adj" fmla="val 8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931920"/>
            <a:ext cx="54864" cy="1188720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023360"/>
            <a:ext cx="10646664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C2422"/>
                </a:solidFill>
                <a:latin typeface="Calibri"/>
              </a:rPr>
              <a:t>Weighted monthly churn was 2.4% over the review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C4A45"/>
                </a:solidFill>
                <a:latin typeface="Calibri"/>
              </a:rPr>
              <a:t>Sources   Monthly churn (weighted)   ·   Monthly NRR (weighted)   ·   Active subscriptions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III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Monthly churn ended lower than it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C4A45"/>
                </a:solidFill>
                <a:latin typeface="Calibri"/>
              </a:rPr>
              <a:t>Sources   Monthly churn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IV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Churn is highest in SMB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C4A45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What this review 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45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3820"/>
                </a:solidFill>
                <a:latin typeface="Calibri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9888" y="164592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headline figures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3820"/>
                </a:solidFill>
                <a:latin typeface="Calibri"/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28600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monthly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260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3820"/>
                </a:solidFill>
                <a:latin typeface="Calibri"/>
              </a:rPr>
              <a:t>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92608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segment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5661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3820"/>
                </a:solidFill>
                <a:latin typeface="Calibri"/>
              </a:rPr>
              <a:t>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56616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VI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Two ways to read retention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5611368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5611368" cy="640080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63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4F0EC"/>
                </a:solidFill>
                <a:latin typeface="Calibr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463040"/>
            <a:ext cx="4651248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4F0EC"/>
                </a:solidFill>
                <a:latin typeface="Calibri"/>
              </a:rPr>
              <a:t>The rate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136392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03120"/>
            <a:ext cx="5154168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Weighted monthly churn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5257800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224528"/>
            <a:ext cx="5154168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Shows who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296" y="1463040"/>
            <a:ext cx="5446776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8296" y="1463040"/>
            <a:ext cx="5446776" cy="640080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5456" y="1463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4F0EC"/>
                </a:solidFill>
                <a:latin typeface="Calibri"/>
              </a:rPr>
              <a:t>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5536" y="1463040"/>
            <a:ext cx="4486656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4F0EC"/>
                </a:solidFill>
                <a:latin typeface="Calibri"/>
              </a:rPr>
              <a:t>The base</a:t>
            </a:r>
          </a:p>
        </p:txBody>
      </p:sp>
      <p:sp>
        <p:nvSpPr>
          <p:cNvPr id="16" name="Oval 15"/>
          <p:cNvSpPr/>
          <p:nvPr/>
        </p:nvSpPr>
        <p:spPr>
          <a:xfrm>
            <a:off x="6361176" y="3136392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336" y="2103120"/>
            <a:ext cx="4989576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Active subscriptions</a:t>
            </a:r>
          </a:p>
        </p:txBody>
      </p:sp>
      <p:sp>
        <p:nvSpPr>
          <p:cNvPr id="18" name="Oval 17"/>
          <p:cNvSpPr/>
          <p:nvPr/>
        </p:nvSpPr>
        <p:spPr>
          <a:xfrm>
            <a:off x="6361176" y="5257800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336" y="4224528"/>
            <a:ext cx="4989576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Shows who remains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VII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How the review is sequenced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11058144" cy="27432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2641092" cy="4791456"/>
          </a:xfrm>
          <a:prstGeom prst="roundRect">
            <a:avLst>
              <a:gd name="adj" fmla="val 6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783080"/>
            <a:ext cx="137160" cy="137160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91640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83820"/>
                </a:solidFill>
                <a:latin typeface="Calibri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" y="2194560"/>
            <a:ext cx="232105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C2422"/>
                </a:solidFill>
                <a:latin typeface="Calibri"/>
              </a:rPr>
              <a:t>Headline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" y="4677156"/>
            <a:ext cx="36576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" y="4814316"/>
            <a:ext cx="2321052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C4A45"/>
                </a:solidFill>
                <a:latin typeface="Calibri"/>
              </a:rPr>
              <a:t>The figures that frame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C4A45"/>
                </a:solidFill>
                <a:latin typeface="Calibri"/>
              </a:rPr>
              <a:t>the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2612" y="1554480"/>
            <a:ext cx="2641092" cy="4791456"/>
          </a:xfrm>
          <a:prstGeom prst="roundRect">
            <a:avLst>
              <a:gd name="adj" fmla="val 6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55492" y="1783080"/>
            <a:ext cx="137160" cy="137160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8372" y="1691640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83820"/>
                </a:solidFill>
                <a:latin typeface="Calibri"/>
              </a:rP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2632" y="2194560"/>
            <a:ext cx="232105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C2422"/>
                </a:solidFill>
                <a:latin typeface="Calibri"/>
              </a:rPr>
              <a:t>Trend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2632" y="4677156"/>
            <a:ext cx="36576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2632" y="4814316"/>
            <a:ext cx="2321052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C4A45"/>
                </a:solidFill>
                <a:latin typeface="Calibri"/>
              </a:rPr>
              <a:t>The monthly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296" y="1554480"/>
            <a:ext cx="2641092" cy="4791456"/>
          </a:xfrm>
          <a:prstGeom prst="roundRect">
            <a:avLst>
              <a:gd name="adj" fmla="val 6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61176" y="1783080"/>
            <a:ext cx="137160" cy="137160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4056" y="1691640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83820"/>
                </a:solidFill>
                <a:latin typeface="Calibri"/>
              </a:rPr>
              <a:t>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8316" y="2194560"/>
            <a:ext cx="232105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C2422"/>
                </a:solidFill>
                <a:latin typeface="Calibri"/>
              </a:rPr>
              <a:t>Segments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8316" y="4677156"/>
            <a:ext cx="36576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8316" y="4814316"/>
            <a:ext cx="2321052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C4A45"/>
                </a:solidFill>
                <a:latin typeface="Calibri"/>
              </a:rPr>
              <a:t>Where churn sits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3980" y="1554480"/>
            <a:ext cx="2641092" cy="4791456"/>
          </a:xfrm>
          <a:prstGeom prst="roundRect">
            <a:avLst>
              <a:gd name="adj" fmla="val 6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66860" y="1783080"/>
            <a:ext cx="137160" cy="137160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9740" y="1691640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83820"/>
                </a:solidFill>
                <a:latin typeface="Calibri"/>
              </a:rPr>
              <a:t>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194560"/>
            <a:ext cx="232105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C2422"/>
                </a:solidFill>
                <a:latin typeface="Calibri"/>
              </a:rPr>
              <a:t>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677156"/>
            <a:ext cx="36576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4814316"/>
            <a:ext cx="2321052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C4A45"/>
                </a:solidFill>
                <a:latin typeface="Calibri"/>
              </a:rPr>
              <a:t>How to trace a figure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VIII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The point of the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11058144" cy="4882896"/>
          </a:xfrm>
          <a:prstGeom prst="roundRect">
            <a:avLst>
              <a:gd name="adj" fmla="val 4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91440" cy="4882896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A83820"/>
                </a:solidFill>
                <a:latin typeface="Calibri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77440"/>
            <a:ext cx="10418064" cy="2441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C2422"/>
                </a:solidFill>
                <a:latin typeface="Calibri"/>
              </a:rPr>
              <a:t>A retention review is a story about who stays.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5705856"/>
            <a:ext cx="36576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4168" y="5614416"/>
            <a:ext cx="99608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C4A45"/>
                </a:solidFill>
                <a:latin typeface="Calibri"/>
              </a:rPr>
              <a:t>Review 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The story in two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5611368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5611368" cy="640080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5245608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4F0EC"/>
                </a:solidFill>
                <a:latin typeface="Calibri"/>
              </a:rPr>
              <a:t>The path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3136392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103120"/>
            <a:ext cx="5154168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monthly path shows the shape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5257800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4224528"/>
            <a:ext cx="5154168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segment split shows where it sits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296" y="1463040"/>
            <a:ext cx="5446776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8296" y="1463040"/>
            <a:ext cx="5446776" cy="640080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176" y="1463040"/>
            <a:ext cx="5081016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4F0EC"/>
                </a:solidFill>
                <a:latin typeface="Calibri"/>
              </a:rPr>
              <a:t>The split</a:t>
            </a:r>
          </a:p>
        </p:txBody>
      </p:sp>
      <p:sp>
        <p:nvSpPr>
          <p:cNvPr id="14" name="Oval 13"/>
          <p:cNvSpPr/>
          <p:nvPr/>
        </p:nvSpPr>
        <p:spPr>
          <a:xfrm>
            <a:off x="6361176" y="3136392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8336" y="2103120"/>
            <a:ext cx="4989576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headline figures frame both</a:t>
            </a:r>
          </a:p>
        </p:txBody>
      </p:sp>
      <p:sp>
        <p:nvSpPr>
          <p:cNvPr id="16" name="Oval 15"/>
          <p:cNvSpPr/>
          <p:nvPr/>
        </p:nvSpPr>
        <p:spPr>
          <a:xfrm>
            <a:off x="6361176" y="5257800"/>
            <a:ext cx="54864" cy="54864"/>
          </a:xfrm>
          <a:prstGeom prst="ellipse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336" y="4224528"/>
            <a:ext cx="4989576" cy="21214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C2422"/>
                </a:solidFill>
                <a:latin typeface="Calibri"/>
              </a:rPr>
              <a:t>The sources trace every figure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Churn is highest in SMB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463040"/>
            <a:ext cx="11058144" cy="1220724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4F0EC"/>
                </a:solidFill>
                <a:latin typeface="Calibri"/>
              </a:rPr>
              <a:t>Segment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208" y="1463040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4F0EC"/>
                </a:solidFill>
                <a:latin typeface="Calibri"/>
              </a:rPr>
              <a:t>Weighted churn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83764"/>
            <a:ext cx="11058144" cy="1220724"/>
          </a:xfrm>
          <a:prstGeom prst="rect">
            <a:avLst/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83764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C2422"/>
                </a:solidFill>
                <a:latin typeface="Calibri"/>
              </a:rPr>
              <a:t>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3208" y="2683764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C2422"/>
                </a:solidFill>
                <a:latin typeface="Calibri"/>
              </a:rPr>
              <a:t>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04488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C2422"/>
                </a:solidFill>
                <a:latin typeface="Calibri"/>
              </a:rPr>
              <a:t>Mid-market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3208" y="3904488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C2422"/>
                </a:solidFill>
                <a:latin typeface="Calibri"/>
              </a:rPr>
              <a:t>1.7%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125212"/>
            <a:ext cx="11058144" cy="1220724"/>
          </a:xfrm>
          <a:prstGeom prst="rect">
            <a:avLst/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25212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C2422"/>
                </a:solidFill>
                <a:latin typeface="Calibri"/>
              </a:rPr>
              <a:t>SMB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3208" y="5125212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C2422"/>
                </a:solidFill>
                <a:latin typeface="Calibri"/>
              </a:rPr>
              <a:t>3.2%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C4A45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XI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Three readings of retention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3740912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3740912" cy="54864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91640"/>
            <a:ext cx="3375152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A83820"/>
                </a:solidFill>
                <a:latin typeface="Calibri"/>
              </a:rPr>
              <a:t>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834640"/>
            <a:ext cx="45720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017520"/>
            <a:ext cx="3375152" cy="3054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C2422"/>
                </a:solidFill>
                <a:latin typeface="Calibri"/>
              </a:rPr>
              <a:t>The headline figures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C2422"/>
                </a:solidFill>
                <a:latin typeface="Calibri"/>
              </a:rPr>
              <a:t>frame the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7840" y="1463040"/>
            <a:ext cx="3740912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7840" y="1463040"/>
            <a:ext cx="3740912" cy="54864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720" y="1691640"/>
            <a:ext cx="3375152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A83820"/>
                </a:solidFill>
                <a:latin typeface="Calibri"/>
              </a:rPr>
              <a:t>II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0720" y="2834640"/>
            <a:ext cx="45720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0720" y="3017520"/>
            <a:ext cx="3375152" cy="3054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C2422"/>
                </a:solidFill>
                <a:latin typeface="Calibri"/>
              </a:rPr>
              <a:t>The monthly path shows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C2422"/>
                </a:solidFill>
                <a:latin typeface="Calibri"/>
              </a:rPr>
              <a:t>the direction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8752" y="1463040"/>
            <a:ext cx="3576320" cy="4882896"/>
          </a:xfrm>
          <a:prstGeom prst="roundRect">
            <a:avLst>
              <a:gd name="adj" fmla="val 5000"/>
            </a:avLst>
          </a:prstGeom>
          <a:solidFill>
            <a:srgbClr val="F6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8752" y="1463040"/>
            <a:ext cx="3576320" cy="54864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1632" y="1691640"/>
            <a:ext cx="32105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A83820"/>
                </a:solidFill>
                <a:latin typeface="Calibri"/>
              </a:rPr>
              <a:t>III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1632" y="2834640"/>
            <a:ext cx="457200" cy="27432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1632" y="3017520"/>
            <a:ext cx="3210560" cy="3054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C2422"/>
                </a:solidFill>
                <a:latin typeface="Calibri"/>
              </a:rPr>
              <a:t>The segment split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C2422"/>
                </a:solidFill>
                <a:latin typeface="Calibri"/>
              </a:rPr>
              <a:t>shows where it 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XII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C2422"/>
                </a:solidFill>
                <a:latin typeface="Calibri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58144" cy="18288"/>
          </a:xfrm>
          <a:prstGeom prst="rect">
            <a:avLst/>
          </a:prstGeom>
          <a:solidFill>
            <a:srgbClr val="A8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3225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83820"/>
                </a:solidFill>
                <a:latin typeface="Calibri"/>
              </a:rPr>
              <a:t>f1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60020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C2422"/>
                </a:solidFill>
                <a:latin typeface="Calibri"/>
              </a:rPr>
              <a:t>Monthly churn (weighted)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3699" y="160020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4A45"/>
                </a:solidFill>
                <a:latin typeface="Calibri"/>
              </a:rPr>
              <a:t>churn_rate_quarter    main.cs.churn_monthly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5409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3172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83820"/>
                </a:solidFill>
                <a:latin typeface="Calibri"/>
              </a:rPr>
              <a:t>f2 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33172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C2422"/>
                </a:solidFill>
                <a:latin typeface="Calibri"/>
              </a:rPr>
              <a:t>Monthly NRR (weighted)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3699" y="233172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4A45"/>
                </a:solidFill>
                <a:latin typeface="Calibri"/>
              </a:rPr>
              <a:t>nrr_quarter    main.cs.revenue_monthly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8561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06324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83820"/>
                </a:solidFill>
                <a:latin typeface="Calibri"/>
              </a:rPr>
              <a:t>f3 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06324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C2422"/>
                </a:solidFill>
                <a:latin typeface="Calibri"/>
              </a:rPr>
              <a:t>Active subscriptions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3699" y="306324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4A45"/>
                </a:solidFill>
                <a:latin typeface="Calibri"/>
              </a:rPr>
              <a:t>active_subscriptions    main.cs.churn_monthly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1713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9476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83820"/>
                </a:solidFill>
                <a:latin typeface="Calibri"/>
              </a:rPr>
              <a:t>f4 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79476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C2422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3699" y="379476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4A45"/>
                </a:solidFill>
                <a:latin typeface="Calibri"/>
              </a:rPr>
              <a:t>churn_trend_monthly    main.cs.churn_monthly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4865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2628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83820"/>
                </a:solidFill>
                <a:latin typeface="Calibri"/>
              </a:rPr>
              <a:t>f5 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2628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C2422"/>
                </a:solidFill>
                <a:latin typeface="Calibri"/>
              </a:rPr>
              <a:t>Weighted monthly churn by segment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3699" y="452628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4A45"/>
                </a:solidFill>
                <a:latin typeface="Calibri"/>
              </a:rPr>
              <a:t>churn_by_segment    main.cs.churn_monthly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C5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C2422"/>
                </a:solidFill>
                <a:latin typeface="Calibri"/>
              </a:rPr>
              <a:t>XIII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retention review</dc:title>
  <dc:subject>run_id=f5c5ec19a544481db51e9fb4bde72904</dc:subject>
  <dc:creator>DeckSmith</dc:creator>
  <cp:keywords>corp_default@1.0</cp:keywords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>harbor</cp:category>
</cp:coreProperties>
</file>